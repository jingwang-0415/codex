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72c6217fc24c6e" /><Relationship Type="http://schemas.openxmlformats.org/officeDocument/2006/relationships/extended-properties" Target="/docProps/app.xml" Id="Rae88e72bfb544217" /><Relationship Type="http://schemas.openxmlformats.org/officeDocument/2006/relationships/officeDocument" Target="/ppt/presentation.xml" Id="R094b5d465d22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fb6b437654d8b"/>
  </p:sldMasterIdLst>
  <p:notesMasterIdLst>
    <p:notesMasterId xmlns:r="http://schemas.openxmlformats.org/officeDocument/2006/relationships" r:id="R93483e18e7a34877"/>
  </p:notesMasterIdLst>
  <p:sldIdLst>
    <p:sldId xmlns:r="http://schemas.openxmlformats.org/officeDocument/2006/relationships" id="256" r:id="Rd51820dbda624c5a"/>
    <p:sldId xmlns:r="http://schemas.openxmlformats.org/officeDocument/2006/relationships" id="257" r:id="R4b6e2cacc195441b"/>
    <p:sldId xmlns:r="http://schemas.openxmlformats.org/officeDocument/2006/relationships" id="258" r:id="R8cafb9b29a794b19"/>
    <p:sldId xmlns:r="http://schemas.openxmlformats.org/officeDocument/2006/relationships" id="259" r:id="R7b57a172778b4796"/>
    <p:sldId xmlns:r="http://schemas.openxmlformats.org/officeDocument/2006/relationships" id="260" r:id="Rf01983ca65a348e5"/>
    <p:sldId xmlns:r="http://schemas.openxmlformats.org/officeDocument/2006/relationships" id="261" r:id="R28a4daf6818040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2c9eb517904a9c" /><Relationship Type="http://schemas.openxmlformats.org/officeDocument/2006/relationships/slideMaster" Target="/ppt/slideMasters/slideMaster1.xml" Id="Rf51fb6b437654d8b" /><Relationship Type="http://schemas.openxmlformats.org/officeDocument/2006/relationships/notesMaster" Target="/ppt/notesMasters/notesMaster1.xml" Id="R93483e18e7a34877" /><Relationship Type="http://schemas.openxmlformats.org/officeDocument/2006/relationships/presProps" Target="/ppt/presProps.xml" Id="R6680bf75a4544b1a" /><Relationship Type="http://schemas.openxmlformats.org/officeDocument/2006/relationships/tableStyles" Target="/ppt/tableStyles.xml" Id="Ra8805ab31c37409b" /><Relationship Type="http://schemas.openxmlformats.org/officeDocument/2006/relationships/slide" Target="/ppt/slides/slide1.xml" Id="Rd51820dbda624c5a" /><Relationship Type="http://schemas.openxmlformats.org/officeDocument/2006/relationships/slide" Target="/ppt/slides/slide2.xml" Id="R4b6e2cacc195441b" /><Relationship Type="http://schemas.openxmlformats.org/officeDocument/2006/relationships/slide" Target="/ppt/slides/slide3.xml" Id="R8cafb9b29a794b19" /><Relationship Type="http://schemas.openxmlformats.org/officeDocument/2006/relationships/slide" Target="/ppt/slides/slide4.xml" Id="R7b57a172778b4796" /><Relationship Type="http://schemas.openxmlformats.org/officeDocument/2006/relationships/slide" Target="/ppt/slides/slide5.xml" Id="Rf01983ca65a348e5" /><Relationship Type="http://schemas.openxmlformats.org/officeDocument/2006/relationships/slide" Target="/ppt/slides/slide6.xml" Id="R28a4daf68180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e03672b52741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f779519194e82" /><Relationship Type="http://schemas.openxmlformats.org/officeDocument/2006/relationships/notesMaster" Target="/ppt/notesMasters/notesMaster1.xml" Id="R12db2bac520d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7d4c0ab9384545" /><Relationship Type="http://schemas.openxmlformats.org/officeDocument/2006/relationships/notesMaster" Target="/ppt/notesMasters/notesMaster1.xml" Id="Refe344ce529f49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69ac6e51b4c82" /><Relationship Type="http://schemas.openxmlformats.org/officeDocument/2006/relationships/notesMaster" Target="/ppt/notesMasters/notesMaster1.xml" Id="Ra129b66abbf0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43eac26cd4eee" /><Relationship Type="http://schemas.openxmlformats.org/officeDocument/2006/relationships/notesMaster" Target="/ppt/notesMasters/notesMaster1.xml" Id="R6175efa2a91449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9bbb84a7334cb7" /><Relationship Type="http://schemas.openxmlformats.org/officeDocument/2006/relationships/notesMaster" Target="/ppt/notesMasters/notesMaster1.xml" Id="Rc484c5ffe4e8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2fc47f293454b" /><Relationship Type="http://schemas.openxmlformats.org/officeDocument/2006/relationships/notesMaster" Target="/ppt/notesMasters/notesMaster1.xml" Id="R2fd6121ab0fc44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/Users/a747/Documents/ppt/outputs/ability-demo-v5.html (accessed 2026-08-16) - visual and narrative source for this editable reconstruction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/Users/a747/Documents/ppt/outputs/ability-demo-v5.html (accessed 2026-08-16) - visual and narrative source for this editable reconstruction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/Users/a747/Documents/ppt/outputs/ability-demo-v5.html (accessed 2026-08-16) - visual and narrative source for this editable reconstruction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/Users/a747/Documents/ppt/outputs/ability-demo-v5.html (accessed 2026-08-16) - visual and narrative source for this editable reconstruction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/Users/a747/Documents/ppt/outputs/ability-demo-v5.html (accessed 2026-08-16) - visual and narrative source for this editable reconstruction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/Users/a747/Documents/ppt/outputs/ability-demo-v5.html (accessed 2026-08-16) - visual and narrative source for this editable reconstruction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a724aaa02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acd5dfba949f1" /><Relationship Type="http://schemas.openxmlformats.org/officeDocument/2006/relationships/slideLayout" Target="/ppt/slideLayouts/slideLayout1.xml" Id="R8cd678d8437442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678d8437442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bc262d6e94868" /><Relationship Type="http://schemas.openxmlformats.org/officeDocument/2006/relationships/notesSlide" Target="/ppt/notesSlides/notesSlide1.xml" Id="R4856bca5eebb43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3152be6884bd2" /><Relationship Type="http://schemas.openxmlformats.org/officeDocument/2006/relationships/notesSlide" Target="/ppt/notesSlides/notesSlide2.xml" Id="Rede6cd78afff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455d27cc4b4d" /><Relationship Type="http://schemas.openxmlformats.org/officeDocument/2006/relationships/notesSlide" Target="/ppt/notesSlides/notesSlide3.xml" Id="Re46e357928a448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2c5cc850f4fbf" /><Relationship Type="http://schemas.openxmlformats.org/officeDocument/2006/relationships/notesSlide" Target="/ppt/notesSlides/notesSlide4.xml" Id="R21c38b5eedde4c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ea26c87884fcc" /><Relationship Type="http://schemas.openxmlformats.org/officeDocument/2006/relationships/notesSlide" Target="/ppt/notesSlides/notesSlide5.xml" Id="R800c63075e1142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3e10cf8994b4d" /><Relationship Type="http://schemas.openxmlformats.org/officeDocument/2006/relationships/notesSlide" Target="/ppt/notesSlides/notesSlide6.xml" Id="Rdda43a7b0a0047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48F27-FC6D-4E0D-A039-CC7BB75A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C80C3-EAC0-4ADF-A5DF-C8B06E24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812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92899-76BE-4430-8D5B-583BB30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67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corner">
            <a:extLst xmlns:a="http://schemas.openxmlformats.org/drawingml/2006/main">
              <a:ext uri="{FF2B5EF4-FFF2-40B4-BE49-F238E27FC236}">
                <a16:creationId xmlns:a16="http://schemas.microsoft.com/office/drawing/2014/main" id="{5BCBFF87-4FE2-4096-81C0-25FE8259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952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close/>
              </a:path>
            </a:pathLst>
          </a:cu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677F1394-B2F1-4FDB-9E13-6297E26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85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向深扎根</a:t>
            </a:r>
          </a:p>
        </p:txBody>
      </p:sp>
      <p:sp>
        <p:nvSpPr>
          <p:cNvPr id="6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7B1F894D-9C75-4469-B216-5A805CA9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向外生长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132F7-5B93-48C2-AC4F-BBC7DEBC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6735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CE2F7-343E-4C2F-8ED4-3C77970B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38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汇报人：【姓名】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F35D3-DE36-4228-B946-DC3A034B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953125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汇报时间：2026.07</a:t>
            </a:r>
          </a:p>
        </p:txBody>
      </p:sp>
    </p:spTree>
    <p:extLst>
      <p:ext uri="{BB962C8B-B14F-4D97-AF65-F5344CB8AC3E}">
        <p14:creationId xmlns:p14="http://schemas.microsoft.com/office/powerpoint/2010/main" val="1083526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FBAEBE-63DD-4D87-AE75-0DC08B2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86140-34E4-493D-A7A8-9239431F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812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7D134-1C03-4881-B3BF-D07DA927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67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EF730-39FE-49D9-88AA-D8CA26A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个人简介：稳扎稳打，在挑战中快速成长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ED1C7-47C7-42D5-9C80-62ADFDE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7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2C7A-612F-427C-843C-9486A78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2000250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44A93-462A-44FE-9A1A-941DF327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个人照片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预留区域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214AA-5424-47AF-A60A-DA1B9E96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6AAFF-542E-4037-A26F-411E550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西北工业大学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98634-706C-49A4-8446-70E2B5B3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计算机学院 · 硕士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2024.05 毕业入职</a:t>
            </a:r>
          </a:p>
        </p:txBody>
      </p:sp>
      <p:sp>
        <p:nvSpPr>
          <p:cNvPr id="11" name="timeline-shadow-1">
            <a:extLst xmlns:a="http://schemas.openxmlformats.org/drawingml/2006/main">
              <a:ext uri="{FF2B5EF4-FFF2-40B4-BE49-F238E27FC236}">
                <a16:creationId xmlns:a16="http://schemas.microsoft.com/office/drawing/2014/main" id="{8B3D52EA-9965-4AF0-A9FB-CDB7FBE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3441">
            <a:off x="2959251" y="4776788"/>
            <a:ext cx="292069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hadow-2">
            <a:extLst xmlns:a="http://schemas.openxmlformats.org/drawingml/2006/main">
              <a:ext uri="{FF2B5EF4-FFF2-40B4-BE49-F238E27FC236}">
                <a16:creationId xmlns:a16="http://schemas.microsoft.com/office/drawing/2014/main" id="{D8748273-7CE3-49C2-A37A-CB72565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37896">
            <a:off x="5547255" y="3276600"/>
            <a:ext cx="41835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shadow-3">
            <a:extLst xmlns:a="http://schemas.openxmlformats.org/drawingml/2006/main">
              <a:ext uri="{FF2B5EF4-FFF2-40B4-BE49-F238E27FC236}">
                <a16:creationId xmlns:a16="http://schemas.microsoft.com/office/drawing/2014/main" id="{718670FB-B48C-453C-A88E-29F0BD00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0906">
            <a:off x="9433834" y="1943100"/>
            <a:ext cx="210638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meline-line-1">
            <a:extLst xmlns:a="http://schemas.openxmlformats.org/drawingml/2006/main">
              <a:ext uri="{FF2B5EF4-FFF2-40B4-BE49-F238E27FC236}">
                <a16:creationId xmlns:a16="http://schemas.microsoft.com/office/drawing/2014/main" id="{7BA5602D-E966-42D3-BCF2-932AF6E8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3441">
            <a:off x="2959251" y="4814888"/>
            <a:ext cx="29206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line-2">
            <a:extLst xmlns:a="http://schemas.openxmlformats.org/drawingml/2006/main">
              <a:ext uri="{FF2B5EF4-FFF2-40B4-BE49-F238E27FC236}">
                <a16:creationId xmlns:a16="http://schemas.microsoft.com/office/drawing/2014/main" id="{0CE3AD31-26F0-4CAA-9453-81AFF04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37896">
            <a:off x="5547255" y="3314700"/>
            <a:ext cx="418359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line-3">
            <a:extLst xmlns:a="http://schemas.openxmlformats.org/drawingml/2006/main">
              <a:ext uri="{FF2B5EF4-FFF2-40B4-BE49-F238E27FC236}">
                <a16:creationId xmlns:a16="http://schemas.microsoft.com/office/drawing/2014/main" id="{A4E49D5D-1F0E-4D45-82D8-A1988785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0906">
            <a:off x="9433834" y="1981200"/>
            <a:ext cx="210638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arrow">
            <a:extLst xmlns:a="http://schemas.openxmlformats.org/drawingml/2006/main">
              <a:ext uri="{FF2B5EF4-FFF2-40B4-BE49-F238E27FC236}">
                <a16:creationId xmlns:a16="http://schemas.microsoft.com/office/drawing/2014/main" id="{32D5D9ED-1809-46D2-829B-53CC79DC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0000">
            <a:off x="11249025" y="14382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61B12-9C6D-482B-9D4A-CF5F2DE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4352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00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B645B-A651-42A8-BB21-0D9EE8A9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578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BE753-DC00-4568-B2AE-38CF859A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676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2024.05 · 入职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2FADB-4215-46FF-975B-2718317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9340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领域硬件团队 · 开发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CB7A3-E066-46A9-8F3B-1F5541B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2103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硕士毕业，进入工程实践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93659-AAF7-4F4C-892E-B9D7B63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5290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4FF06-1A93-44DF-B23E-C73CA908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672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0FB82-7372-4399-9E77-B8EAA93F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862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2025.04 · 团队转换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273A1-D154-4A94-9D9C-B708E10E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7434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孪生图谱团队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3816C-66A7-4674-A949-C09682A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019675"/>
            <a:ext cx="2714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太平洋专项 Owner · 质量加固 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CA369-B1DD-4FC2-A0A6-33917056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4315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01EF10-349B-4F5B-A27B-A1AA9B7B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BDC65-A004-484A-98CE-3AF47A0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76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2026.05 · 至今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3E350-9D91-401E-BDFA-D684F43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3370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协同团队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FE008-6F93-46E8-BEB3-60BF4993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0992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跨团队协作推进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89C40-EAA2-458B-A0E3-2234A771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15D69-50CA-4480-BD2C-C0579F8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52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2024 · 成长印记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D25D7-87AE-456E-B24E-6A1C1EE7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670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8EB00F-38A2-486A-8FE7-EE9E254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670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NEO 优秀学员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3E9C25-10A2-4956-8182-A79AC408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14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059BCD-A2B4-4D53-BD49-B641C48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146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公共开发之星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249FF3-82A2-4B39-8A63-442A3ED9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62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40894A-6E07-4BF7-ADC4-74365B7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623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明日之星 · 公共开发之星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5F4BD6-9C94-4500-9F47-E5B6B01E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692657-4B41-4979-8E7D-CF935FB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410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2025 · 持续认可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F74293-AFC9-41C3-BC79-8A7979D4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724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26F0FC-9CC2-42BA-BA16-070B2498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7245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明日之星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FD3BC4-3641-447C-A042-9DBA8831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191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3ECFA2-5D51-45EF-ADB1-8E9AE45C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001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2026 · 协同突破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C20BE4-51D4-40F6-B9D4-ED251B8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14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01月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B886B3-B815-4117-B638-4CEA3C7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1442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优秀第一公里团队 · 总裁奖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64CEBD-0604-4D5F-8EEB-E4FA2AE3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62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E481F3-8079-4C28-B177-B13095FF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6207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公共开发之星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6B5B65-9A33-42D1-8F6F-56D221DB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9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FFB471-A17F-44B9-A77E-EE55C246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0972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公共开发之星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D918F9-24C6-44A0-8C6E-34F52943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63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846912-161D-4F81-80C4-83419E23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1144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持续向上</a:t>
            </a:r>
          </a:p>
        </p:txBody>
      </p:sp>
    </p:spTree>
    <p:extLst>
      <p:ext uri="{BB962C8B-B14F-4D97-AF65-F5344CB8AC3E}">
        <p14:creationId xmlns:p14="http://schemas.microsoft.com/office/powerpoint/2010/main" val="2004361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5A2932-B702-4FBA-8A92-3E564084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4B043-A52B-4637-83AA-D063B0B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812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43A97-4DA0-478E-8BFE-E67D11D4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67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DCC72-E5B6-4725-AAD7-780C7911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 初试羽翼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335DF-4C33-4EB1-8759-6E96701F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8600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1B4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B4B6"/>
                </a:solidFill>
                <a:latin typeface="Microsoft YaHei"/>
                <a:ea typeface="Microsoft YaHei"/>
                <a:cs typeface="Microsoft YaHei"/>
              </a:rPr>
              <a:t>|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958F0-8702-4EA2-A634-6910B148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设计先行：把关键问题解决在开发前，支撑高质量交付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C5359-D0E9-46CA-ACA0-6A8C3FE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7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67D03-E81B-4882-BF50-93476DE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72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3DDE0-4A9C-40D9-980D-9311124E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9FAA0-2EFF-4134-9DFE-1CA1B77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面向数据湖与 AI 场景，建设统一的元数据管理架构，并提供语义检索能力。方案需兼容现有 DTE 模型、传统 JDBC 接入和 Iceberg 生态接口，贯通 DTE、DME、LCS 三个系统，并满足亿级元数据秒级查询要求。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636C8-5678-413E-9A1D-5FB18662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6099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2005F-A5FA-4F54-AABF-F2706ACD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6099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05D2C-7690-4486-80F5-4AD73D97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238D5-F3CC-49FE-8AD2-C74BD3B6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28800"/>
            <a:ext cx="3362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统一架构与职责边界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376F6-46DA-4E32-90FA-DB923BB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47900"/>
            <a:ext cx="33623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0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挑战：</a:t>
            </a: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三种生态模型差异明显，三个系统职责相互关联，容易形成多套模型、重复适配和数据归属模糊。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49E82-9EB0-4BD5-B20C-4D7B7ABC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47975"/>
            <a:ext cx="3362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我的做法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7FA17-F92A-4053-A020-47ACA371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B5D30-EBF3-4E96-BF0C-E369077F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86100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抽象核心对象，建立三类生态与统一模型的映射规则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090A3-0ABA-4B69-9D3F-6676F96D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956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A45D9-E586-4C01-BF11-0DC22C6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57575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1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借助 AI 推演新增生态、模型升级与存量兼容，补齐职责边界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0E7A4-1DB4-4B70-8021-7CDACEC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05250"/>
            <a:ext cx="3362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D8465-73FF-4FEC-8642-5E7F059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7670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126FE-CD5C-4E84-ACFD-984ECDA9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76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BF1EA-9237-46A1-B686-FE469B5C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DTE 独立模型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36C0C1-5600-4007-A1E2-2FAC00C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7197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75AE65-16DC-42C4-B7BD-7E154211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719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B4EBF-BD4C-4B40-B617-C5CC28B6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JDBC 独立模型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7A7E01-B87F-40F5-AF86-13E7829E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67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1BF38-D9CD-4FFD-BD18-1DD4A056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B6804C-ECC8-4CDC-80F4-160E24A5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Iceberg 独立模型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C0C51-C608-410C-BCB4-94E1478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719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70198-C058-4ECE-98FA-0713756D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910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C8BDA-4E75-4D0F-AE8F-24FA7E85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219575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91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统一核心模型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DTE / DME / LCS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AEDC2-9E62-4820-9FBD-4436DBFD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24450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2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三套模型收敛为一套核心模型；新增生态由改造核心链路转变为增加适配层。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6CFB3-7FDB-4223-89D9-E39DCB64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71625"/>
            <a:ext cx="36099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3A64E-9F35-4337-B9F5-10E41C90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71625"/>
            <a:ext cx="36099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AE1DF-041F-4135-BEB8-DBB8E06E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38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5FCE13-EB26-497A-82A7-A6E028D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28800"/>
            <a:ext cx="3362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跨系统数据一致性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0AE48-9327-4CDE-820D-248FD41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47900"/>
            <a:ext cx="33623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0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挑战：</a:t>
            </a: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跨系统链路可能出现写入失败、状态异常和数据差异；亿级数据无法依赖高成本的常态化全量对账。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58DDC6-C8A6-4896-AAAA-E04446E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47975"/>
            <a:ext cx="3362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我的做法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1566EA-9D9E-47B4-9FF6-06000193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242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6F8834-39C7-4521-9999-E1ECAA7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86100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明确元数据事实来源和责任系统，守住各自一致性边界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703A5A-7CEB-4B8D-B8C6-BDA746F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956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CE581C-3754-4C26-B7E1-A7BD06CB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57575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借助 AI 枚举失败、超时和极端异常，补齐阻断与恢复路径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494A5F-F4A4-4DA0-83F1-8469B9B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05250"/>
            <a:ext cx="3362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CF7DE8-47AF-4909-87E0-8F69DC1F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38600"/>
            <a:ext cx="86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7809F1-28B9-4873-A589-8B3D0B78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正常运行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0D25E6-85AC-4621-A9B0-ACEA0A0E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386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8AAB7D-1447-4628-BB2A-DEF3905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671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系统内数据与状态自洽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A2ED4D-12DA-4630-8B0B-37206BD7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38600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40BCAA-EDB7-4DAF-BD0D-0B635139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671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42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边界清晰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B5CEAC-2D06-465E-91D7-60D9BB1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33875"/>
            <a:ext cx="86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250081-28A6-46E1-88C8-AFA65BA7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链路异常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48163-43AC-422B-8B6C-2B7ABADD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33875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B231FE-742D-44D3-8565-D7756808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24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失败、超时立即反馈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D54CDC-2498-4DF1-A04C-896E5A99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3387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0D2518-CD79-47CB-9CE1-37D51B03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42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阻断扩散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9E0E16-20F7-4D7D-BC32-4FE56757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29150"/>
            <a:ext cx="86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E9B562-BEC2-475D-AB79-91DAD7C4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极端异常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C740B7-1BC7-4DC8-B8A1-1B13B8A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60AE65-32EA-44A3-A5CE-7937E71A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577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事实源定向修复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3C5DC8-2E82-4872-99E8-EED9FAF6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29150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AE6ACD-0FF3-4F47-95BA-8BC745C8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5772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42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校验恢复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904DC4-7858-4CA6-B39A-85CB450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24450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2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数据归属清晰，异常能够及时阻断，并依据事实源完成定向修复。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E59E6C-C7EF-46C3-B7B0-4425F26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36099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C535F2-7716-498A-8E58-66F87EE5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36099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67D57B-8E3D-4911-835D-101A5C9B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38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CCE417-30C5-4D24-8DD0-3503547E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28800"/>
            <a:ext cx="3362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亿级元数据查询性能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532B1B-A63D-47DA-A80C-E8E70488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47900"/>
            <a:ext cx="33623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0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挑战：</a:t>
            </a: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亿级数据同时承载精确、全文和语义检索，容易出现 Mapping 膨胀、查询范围过大和响应波动。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0FBD30-B593-4D0C-9C1C-749BC56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47975"/>
            <a:ext cx="3362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我的做法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A7B50B-FB5E-4FE4-9997-B6115C3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24200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B1CC61-9C88-46C5-96FF-5C19DBF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86100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886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按查询与更新粒度拆分 Index，以显式 Mapping 控制字段增长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1571B8-26D1-45CB-BF88-988A6E96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956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7B3D06-10F7-406D-8DE7-0C6B9B4C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7575"/>
            <a:ext cx="3267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人工设计业务场景，借助 AI 生成测试数据与脚本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5E9804-E461-40B0-BECF-A866504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3362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727E23-DA92-4A77-81DF-B9EAAA3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19550"/>
            <a:ext cx="1316165" cy="17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C0C5792-5D88-4729-A5FF-0FC39239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340" y="4019550"/>
            <a:ext cx="846106" cy="17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4CC831-5DC3-4E6D-B46A-E0B84D0A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445" y="4019550"/>
            <a:ext cx="971455" cy="17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1085D6C-2397-4CE0-856D-02D69CC2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94810"/>
            <a:ext cx="1316165" cy="2366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3FF886-3072-4363-88B1-7FBCA133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340" y="4194810"/>
            <a:ext cx="846106" cy="2366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C71B93-814F-4BB5-A92E-9EC8E43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445" y="4194810"/>
            <a:ext cx="971455" cy="2366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F457D4-BADA-40BD-8447-DDC6EDB7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31411"/>
            <a:ext cx="1316165" cy="227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64C79A0-B493-46EA-913D-E452E8D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340" y="4431411"/>
            <a:ext cx="846106" cy="227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5DBCB2-590B-42DC-AC2F-4C831F49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445" y="4431411"/>
            <a:ext cx="971455" cy="227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B8B5BC-EFFD-4D47-A6B4-51DC8EF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59249"/>
            <a:ext cx="1316165" cy="2366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2F4E88-214E-4513-A190-7F7FB983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340" y="4659249"/>
            <a:ext cx="846106" cy="2366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68898C7-A1B9-4B05-B533-8FC9C4C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445" y="4659249"/>
            <a:ext cx="971455" cy="2366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7D4A14E-0034-4F17-8151-34B2E584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48125"/>
            <a:ext cx="123996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ECAC9F-9553-42BC-875E-1FA32C9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4048125"/>
            <a:ext cx="7699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优化前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D19BA5F-11C3-44D4-BB42-A3ABD83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95" y="4048125"/>
            <a:ext cx="89525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优化后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F90D72-E0AB-4BFD-AE20-2AF77B6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13860"/>
            <a:ext cx="1239965" cy="21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精确查询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C066587-7F73-45FF-AB87-8608767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4213860"/>
            <a:ext cx="769906" cy="21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≤ 5 ms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46EA2D8-870F-43DE-8837-EA9C9D5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95" y="4213860"/>
            <a:ext cx="895255" cy="21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62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≤ 5 ms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保持稳定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EB947E-B9A2-4A41-A604-0A566D18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50461"/>
            <a:ext cx="1239965" cy="20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文本检索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CF662F-44E3-4F83-AD05-3BF01F40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4450461"/>
            <a:ext cx="769906" cy="20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59.51 ms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D99062-B50E-45C3-9177-54BAE85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95" y="4450461"/>
            <a:ext cx="895255" cy="20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21.77 ms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耗时降低 63%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464478-4B41-47EA-BF57-FFBBFD08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78299"/>
            <a:ext cx="1239965" cy="21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全文检索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089223E-0C73-44A8-8BC5-C86E44E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4678299"/>
            <a:ext cx="769906" cy="21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332.75 ms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B658C83-8EFA-42C5-86A9-5309CD9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95" y="4678299"/>
            <a:ext cx="895255" cy="21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62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78.00 ms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耗时降低 77%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6A2DE6-E12E-4422-A244-42F6A193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24450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2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精确查询保持稳定，文本与全文检索耗时分别降低 63% 和 77%。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9AEB67-4FB4-4CB8-A263-E60088C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1172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0422EF9-742F-430D-8A19-02ECE11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57FFEE-C64E-4923-860E-8FABB1E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高质即高量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C140D7B-659F-4116-9CD4-6CC9ED70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1055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越早把边界想清、把风险验证清、把异常兜底想清，开发过程越聚焦，交付结果越稳定。</a:t>
            </a:r>
          </a:p>
        </p:txBody>
      </p:sp>
    </p:spTree>
    <p:extLst>
      <p:ext uri="{BB962C8B-B14F-4D97-AF65-F5344CB8AC3E}">
        <p14:creationId xmlns:p14="http://schemas.microsoft.com/office/powerpoint/2010/main" val="1021140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4D44C18-06DD-4271-96C5-CC14EDB5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2033-95C8-4A38-AC15-90792DF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812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23D29-A6BD-4AB1-82FF-213F348A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67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E6313-959F-4214-9665-891D078E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 独当一面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B45E2-9674-4308-B900-B8CC0DEB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8600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1B4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B4B6"/>
                </a:solidFill>
                <a:latin typeface="Microsoft YaHei"/>
                <a:ea typeface="Microsoft YaHei"/>
                <a:cs typeface="Microsoft YaHei"/>
              </a:rPr>
              <a:t>|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132B8-2579-4E70-B986-08EB393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精进不止：向下解决根因，向外沉淀方法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69845-36C6-41D2-B147-BACDB02A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7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43F7-713F-46C3-877F-D26BD46F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914400"/>
            <a:ext cx="0" cy="499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0A1B8-3C75-4341-9B61-1BAE387F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技术向深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FFFB8-589D-4EA2-ACCE-CD2AE9F9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从查询瓶颈反推图结构设计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9CA32-0742-4270-AF79-EBBF5FD7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95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方法向外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0F558-B26D-49A6-9CA7-C93D665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95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从个人响应到跨团队共建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42189-29D1-4E55-98C0-635F3D18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457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DE4F5-D7A2-4290-848F-A28BEBE3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266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业务表现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D921D-E782-4B33-AF8F-0E5539D7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266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复杂关联查询时延未达预期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8B096-EF41-4878-BEEC-DF63267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5430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4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9ED38-CF02-4C7C-AF84-1BB99D71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257300"/>
            <a:ext cx="1457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ABC21-3B0B-49FE-83E2-2F3A741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33500"/>
            <a:ext cx="1266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性能瓶颈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E0196-B430-4C8A-9F8B-73271F2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562100"/>
            <a:ext cx="1266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多跳遍历引发路径空间扩张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97E4F-1AC8-4232-95E8-731A9B64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430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4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632B8-159E-4697-B5EB-5DDF0BB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57300"/>
            <a:ext cx="1457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FE234-4CEC-486D-AE0E-C42FB156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333500"/>
            <a:ext cx="1266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核心矛盾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57E88-077E-47E5-9328-3FA7B017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62100"/>
            <a:ext cx="1266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2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通用扩展能力与高频查询效率之间存在权衡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1F448-07F3-4905-A1D8-7699D7E7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5430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4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CCC6E-7376-4665-8C8F-F329F205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257300"/>
            <a:ext cx="1457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458E9-1755-4ED8-A043-0642BE8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333500"/>
            <a:ext cx="1266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演进方向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1C83E-7CFB-4E83-A6B9-D51134E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562100"/>
            <a:ext cx="1266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面向核心查询路径，优化图模型及数据组织方式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6E44A-765F-4C30-8930-29468AD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完整结构对比：聚焦主查询路径变化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6AE14-551E-40DC-9591-6639D95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61150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9C4C0-65BB-43EE-A054-0683C5D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优化前｜多跳关系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2BEA0-62A5-4914-942F-51B69ED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0011A-D051-43E3-9E0A-407CECB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Dataset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2979AC-0C95-4A58-BAC9-0FBA860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098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39E904-5244-47AD-9305-553C720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9A0E14-9F69-420D-80EA-BC6F102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098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55F43-A29A-45FC-9BAA-4902BC2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Dataset 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84AE8-DBBB-4A94-B599-D888375B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67075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774ACF-8D3C-4DF3-AA69-4F6EF4C0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Dataset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Version 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0A68B2-BE22-4A84-98AF-EC1CCC9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67075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B7BEA4-90B9-4631-ACC1-F023E3E4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JobRun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2D50BE-9AB1-4678-A714-433EF75E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267075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5D82AE-9537-4BEF-8EE1-B5A5D1D7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956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Dataset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Version 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E94E91-3CBD-4AD4-96E8-80777E08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765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A0F33B-36A2-4008-9AE6-A9DFBBAF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1EB099-4A7A-40F6-9835-124BADA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765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CAD4CE-B092-4EEE-8ABE-FA1CE36A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43852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411808-35DE-4951-ADB2-C7CFEE8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38525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36B74D-2ED6-4B4E-A7E4-AB495B4E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多跳遍历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2BF471-3A33-4335-A0A1-06FB1F2A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61150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02CD53-F3FC-4398-9B24-E071982F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优化后｜核心链路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F5B205-AD65-4553-B8B1-7EA07F8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6ADC3F-DCC1-4804-A10E-E25D3653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624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Dataset 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1090E3-F212-4D96-B2BE-84C76D3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33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5395A4-B1E0-47AE-B1A7-892F705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624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377E07-E286-4BE0-819F-5FB2F4D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33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99B252-8E34-45AF-A333-21182605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624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Dataset 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146A76-B0B7-44C1-9624-71D4EAFA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6720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0E8DE0-DFB0-46DE-9FB0-1CEDE30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8D6287-DB01-4A68-A054-769F04E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005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83D86B-9C17-4BE6-8636-1AA6D8A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Version 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D3B435-31FC-455C-BAD0-F31E5DAC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005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EBCC7E-F483-41EE-B8DD-2B841F5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005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BD5DE8-F500-452D-9647-E3B8D2B3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JobRun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AA6896-E119-496D-9668-DE7796A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005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638670-3274-4659-A5CC-E718DE87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005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F45566-A4FE-4F01-BA14-DD3638EB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Version B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DC3EE4-E5FE-4A0F-9E56-4B7E1283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005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5E0EB8-E230-4F56-93CF-7128FF09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8B3FB2-10F0-46F4-912A-2592DFD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813541-A829-452A-BF1D-5B5456C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复杂查询跳数减少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FA4E5C-B748-412C-A0BF-F6A98F19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6255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C376BB-2D53-418A-8497-64BF8C6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082EAA-F070-459B-B819-757AD24A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530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查询速度提升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22A7F9-7663-4676-A3F0-913FF6B2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57300"/>
            <a:ext cx="46863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94A728-CC61-4CAC-A88A-0F3C80E8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71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定位能力演进路径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7C0E55-893D-43A5-9FC5-6CF569D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33550"/>
            <a:ext cx="4438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72D9E8B-81FC-49B4-A162-21ADDC5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33550"/>
            <a:ext cx="838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6D1D3A-E5AC-4855-AEEB-89C749FB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28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4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FD2AB9C-38CB-414B-8EC7-C3B37F31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685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人工响应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D64C44F-352C-42F2-807F-F2B5F08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B8D4E6-F692-4529-ABC1-6499FF40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145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所有问题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7F3498-54FF-4EC1-8F95-15C6C125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43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780B39E-426B-4EC2-9A1D-BF5C15B5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369F76-0495-4C49-8B71-40D892A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145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接口人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DEC6BA-7EE9-4213-B553-819AA1FD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43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7647FD-9EB1-4511-A863-BAC7639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8859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8CA93A2-3044-4045-93B3-457B938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9145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逐一答疑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281854F-49B4-472C-A4E9-C45B26B2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4438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B4B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B07C8B5-DEC5-42A1-9F74-72B13C5A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838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31B8EE-AA14-4264-8E5D-A82B451A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90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4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5F79F01-CFDC-45EC-BEA7-8AC5A95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685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组内复用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E39B60-478D-467B-AA4D-C103653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86075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983981-D84D-4C0C-835D-28FA1741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146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成员 / 问题升级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52ED220-7C89-45D0-B821-5DE6E9EC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702A4C2-1358-4F57-BE92-2ED99F1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86075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816BA5-D6C5-43C1-B1DC-9232ED4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146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Skill / 接口人判断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267BCD-2019-469D-83F4-6B66841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43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69541A8-C8C4-44A4-8F72-414EA08D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86075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9C3C251-63E2-4173-B168-F7E4D4B4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146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标准排查 / 结论回写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E122A42-62F2-410F-813D-735505CD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4438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B4B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6C2630-16D4-4938-9F47-CCBF49F8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838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D5C2E9-818C-4685-9DDF-7AFA42BB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385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4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28405C0-037F-48E0-87CD-E23DDC6D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19550"/>
            <a:ext cx="685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跨团队共建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CEF963D-BCCA-43A2-B590-7E27C13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7000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DDC9293-D714-4D68-AA7D-17F7C84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52875"/>
            <a:ext cx="604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共性问题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A67228-D1F9-49E3-A7D7-A77FC37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3981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37B359-18B1-413D-80CE-EDEC4AF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3924300"/>
            <a:ext cx="7000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12D450A-BD07-4225-9339-0D5AB4E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952875"/>
            <a:ext cx="604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北斗 MCP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统一流程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44E90A0-C360-497D-BA3B-22E176DA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81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474B856-7710-4011-95C7-93D7992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924300"/>
            <a:ext cx="7000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03972B7-6E7F-4709-B35D-16DC44AF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52875"/>
            <a:ext cx="604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公共能力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359DBBE-7D74-4063-95D4-1199848F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363" y="3981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0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2EF971-93A9-465F-B206-BEBFCE56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813" y="3924300"/>
            <a:ext cx="7000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8619C0F-61FA-4FEB-8C61-0690F9B2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952875"/>
            <a:ext cx="604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团队试点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53E1559-74DC-4905-8289-810D1B3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试点反馈回流，持续完善公共能力与统一定位流程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8F7BA86-08D5-407A-9121-312149A1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625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D44EEF6-35EC-4E43-A9DB-C87620C6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 类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B159F8-C89B-47FC-827D-649ED01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530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常见定位问题覆盖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7202162-0F1C-4956-9E13-F4CEF6A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62550"/>
            <a:ext cx="225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8289CDC-0A4E-4327-B6EA-6FBF577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0"/>
            <a:ext cx="2257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30 → 10 分钟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C84868D-DFE6-489F-A644-7389FED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5307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平均定位时间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7C577AB-9495-4527-9010-AFA8F0C2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1172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64B94E1-82D6-4173-9F64-724C349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A35362D-A752-4BE6-BA4E-61E51669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优化即复利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7A8D60-B91F-403A-8114-60666B2D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1055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越能从表象追到根因、把经验沉淀为方法，后续解决同类问题的重复投入越少，一次实践产生的价值越持久。</a:t>
            </a:r>
          </a:p>
        </p:txBody>
      </p:sp>
    </p:spTree>
    <p:extLst>
      <p:ext uri="{BB962C8B-B14F-4D97-AF65-F5344CB8AC3E}">
        <p14:creationId xmlns:p14="http://schemas.microsoft.com/office/powerpoint/2010/main" val="138707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7A5E87-E33C-4A93-99A7-E42731A0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A6CB3-3CE1-496B-B2C3-5C132373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812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1DA91-D7DD-4F5C-93D7-C6082891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67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EED22-81C1-49EA-A6C7-BE35EE8D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 团队协同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FC107-75F8-4C6B-8F2D-869D13BE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8600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1B4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B4B6"/>
                </a:solidFill>
                <a:latin typeface="Microsoft YaHei"/>
                <a:ea typeface="Microsoft YaHei"/>
                <a:cs typeface="Microsoft YaHei"/>
              </a:rPr>
              <a:t>|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625B9-FD46-4E08-88AE-3922E86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协同破局：向外求证，向内解耦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5FB0-E1E1-4A98-AC95-7AA70D25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7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8BADF-0898-4FA4-BB62-5F65A02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78B38-8D5C-4253-B365-12E66033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复杂协作的难点，不只是参与方多，而是关键事实拿不到、上游方案等不起。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E12EF-C0CA-4E49-87E8-F61AB752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72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ABBAA-BE5D-42F1-9C96-8F313ABD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技术依赖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7826F-6DAA-41A1-8472-ED6361B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5257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61947-B9B3-414D-A2CD-6F4AD3FC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81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971DC-B8D5-4DD7-AEFF-C4EA2ED9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81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2DD19-D104-43C1-9537-213E11DC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525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DD899-7CC5-4913-B05C-4DDEB21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81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底层 GV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0BC4E-6236-49DA-A6DD-80ED1D8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811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能力直接依赖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2D0B9-8487-4E3F-9C5F-8FBE1F7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716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协调链路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588EC-96F8-4935-A97A-9F4A4FE9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5257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69878-C8FD-4E8F-8EBF-128C8FB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FDFE5-69BC-49FB-8080-6AB19A64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81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E73B6-4325-4808-A8FE-42D1F41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55257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9014C-E701-44FE-ADBA-2106EA00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137D8-78E9-4BF4-A649-9A90C08F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581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1D5FD-9596-4D37-A55F-E56FE4D5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5257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351AA-C9F9-4050-B746-4CA4592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昊天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798A9-CBB9-41C8-BA82-C47CE0D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581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E44D1-0058-4E0A-BBED-B96C98FD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525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32C66-6579-44E7-989B-24C0A809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81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底层 GV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2B865B-6B42-4BF7-A85F-14CE232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5811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无法直接对接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F69CB-0AB2-4B5F-922F-65999B5E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B208C-76CA-459F-AAA7-1EBAC9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向外求证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90F9E3-005C-4C99-8B97-8CF26F71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性能规格风险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15AAE4-D4A0-426A-9392-CD93CBA4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095500"/>
            <a:ext cx="2762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AC3200-8372-454D-8BCF-A0C3945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384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风险识别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54C941-A446-45D5-B828-796EC4EA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336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业界打榜数据 ≠ 真实业务负载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FDE3E-56BE-4A9F-89F7-253AAC1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7182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GV 630TR5 现有报告不足以支撑规格判断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94867-9707-43D5-A5A4-604035F6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9FE6CA-328D-4FB0-8508-6BBE2271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4048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D4CA3D-0253-4BAD-B6CB-933E286E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360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我的动作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31CA2A-AA3C-4B5C-9BBB-6413A83D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357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构造真实业务数据，推动产品经昊天协调 GV 环境完成实测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127DF4-2AD3-42E7-920C-FBE4158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0C32C2-AE2D-4215-9BBC-EDFC2972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0"/>
            <a:ext cx="24669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589200-8676-4C37-B536-D226CD32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3840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推进结果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16C630-A57A-41CF-B868-4B4C1C5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以实测校准需求规格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2FB7D5-C093-41B0-AB4F-2DE34E46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52775"/>
            <a:ext cx="2162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确认无法满足原诉求；提前识别 3 项性能问题、2 项功能缺口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FF6CC7-2E44-4C3D-B308-695AAB3F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9DFE8D-91EE-4E7E-B7A8-094F7159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向内解耦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F387DB-2E25-4385-B075-C4DF37E1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业务场景风险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A71152-E31F-4CF2-895C-D634840F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10000"/>
            <a:ext cx="2762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158399-6652-413A-B4A0-505B4293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52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风险识别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19A0F7-3F4E-4D59-9C7E-1F5E59FF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481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30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鉴权分域场景未定，方案持续变化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D1065C-3F90-41DA-ACDA-121F211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8632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后续 10+ 接口面临整体等待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654125-6DA2-4292-ABFE-6D5C5B62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95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340B9B-5E78-42FF-8FC2-C511B884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0000"/>
            <a:ext cx="4048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28BA86-7383-4B07-B11C-CA1D3E9B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05300"/>
            <a:ext cx="360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我的动作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70C930-DE7A-4076-B4EE-21350B0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357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一边推动产品明确方案，一边 Mock 未明确环节并行开发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941CDF-DE5B-4A72-81B3-594C9BBB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95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D9D8E9-121A-41E1-8CB0-8817013E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24669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A86774-D367-4008-BF9F-5B9817D2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5290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推进结果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FAEC3B-30DC-48FD-A56B-742E4E95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解除对上游方案的同步等待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9869B9-A736-47E0-91E0-E1D0F324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67275"/>
            <a:ext cx="2162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10+ 接口持续开发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2AF00C-83B1-4B87-8FE3-E52726E1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1172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F8FAC9-339A-479E-9C6A-D8571B41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72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规格有依据    +    开发不停步    →    需求如期完整转测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3DCC1F-E8B7-4220-B2B4-C566241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11728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4FFEF5-0F1D-4832-9206-FF8D8FBE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50E706-B0B8-4E1D-92F8-B481D3A5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协同不是同步，而是创造推进条件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9E5264-859D-49CB-BA94-BF22F41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1055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用实测收敛判断，用解耦创造并行，让复杂协作从等待转向推进。</a:t>
            </a:r>
          </a:p>
        </p:txBody>
      </p:sp>
    </p:spTree>
    <p:extLst>
      <p:ext uri="{BB962C8B-B14F-4D97-AF65-F5344CB8AC3E}">
        <p14:creationId xmlns:p14="http://schemas.microsoft.com/office/powerpoint/2010/main" val="1198625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B727CB-77FF-4F8A-88BA-BDB5500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2E80B-AC83-4594-9232-F7A1E9BA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812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B473D-7B8D-4B1B-AA3A-3D14503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67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DB754-9623-47F1-BB78-C0275D5C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且行且思：在实践中积累，在反思中前行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11B5C-C4D0-4474-A382-0AEB35A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7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9599C-3862-41C2-9AE1-3F7364F0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29146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44FC3-032A-4203-B3E0-FA12600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D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D7D9"/>
                </a:solidFill>
                <a:latin typeface="Microsoft YaHei"/>
                <a:ea typeface="Microsoft YaHei"/>
                <a:cs typeface="Microsoft YaHei"/>
              </a:rPr>
              <a:t>01 · 初试羽翼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BEF35-6762-4A76-8A64-242C314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高质量交付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09F2B-F857-4B5D-AA4E-4C838259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把关键问题解决在开发前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BA8D1-723E-4BFB-83D5-F371A81D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4381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74F95-D1A3-4EE9-AE82-04FAB4B9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52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已有积累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CE467-F3A4-4AAD-9984-BBBCC732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66850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E0F22-D797-4CC6-84FF-E644518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240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需求执行       →       设计判断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F1BCF-70FE-4DD8-911B-B4E22BD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81200"/>
            <a:ext cx="396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开始把架构边界、异常场景和验证路径前置，并借助 AI 补充设计遗漏。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110F4-E5BA-44AE-9A5C-F32BD7E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87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899A8-DF5A-4635-A546-A4DBD54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525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下一步精进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03E03-89F7-4494-8F9C-58014BE5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57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跨域视野与方案取舍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79606-E66C-48C8-9780-29DFBABC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716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持续扩展跨域知识，提升复杂方案的比较与取舍能力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0D33F-F661-4961-83E0-108F498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FC51C-0A4B-40E9-9899-929AC41C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574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知识广度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1FD9C-D942-4568-9980-A3CA2AA8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88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71DB2-6099-4180-95C0-EB464EFC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574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方案取舍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3834E-4CCC-44F9-997E-C25C7217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9146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4314C-0C58-45BF-A99C-5DBBB7B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D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D7D9"/>
                </a:solidFill>
                <a:latin typeface="Microsoft YaHei"/>
                <a:ea typeface="Microsoft YaHei"/>
                <a:cs typeface="Microsoft YaHei"/>
              </a:rPr>
              <a:t>02 · 独当一面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92C5D-3EB4-479E-B526-FA78E795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优化与沉淀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EB667-E552-4274-91B3-BFCD1F1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从解决一个问题到减少一类问题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2D4B1-2B3E-4E4E-835D-57A08FA3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4381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2E83F-BBBB-49CA-A141-8C8D547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已有积累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EFE465-C67E-48CA-8119-A190739C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96B8B-DE1E-4995-B0D7-2CA103D8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766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单点解决       →       根因优化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1698D-9A49-4FD9-8D56-78D19AF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396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能够从性能表象追到结构根因，并将重复定位经验抽象为 AI Skill。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43606E-1E69-4EE5-9B1B-E1D031E8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387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64AE6-3C83-48B3-9F43-71962DD0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05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下一步精进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9AE34-5C01-4110-BF41-767CAA85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方法抽象与经验传递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8B395B-F7DD-46EA-9F18-E191AC39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提升方法抽象的通用性，让经验更易理解、更易复用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3D6B7-DD0C-4F3E-8977-A1452CD4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C4C5FD-67A2-41BF-BE68-3D90C16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100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方法抽象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EAE944-CEE1-42D1-9049-693E130F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814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937748-1F7A-4309-8FC2-E7D994C7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100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经验传递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0030B4-5BE2-4999-970E-7089BC01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9146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31BD83-C7BE-4879-BB63-BA5E962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D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D7D9"/>
                </a:solidFill>
                <a:latin typeface="Microsoft YaHei"/>
                <a:ea typeface="Microsoft YaHei"/>
                <a:cs typeface="Microsoft YaHei"/>
              </a:rPr>
              <a:t>03 · 团队协同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494C3D-B334-4FCD-B571-589AC91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协同推进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E00477-742E-4ACA-BD75-CFC4F53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向外求证，向内解耦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2407A4-D8DF-4A14-B18C-08108DF7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4381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8063D-652F-4422-918E-C37D233B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577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已有积累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9CCDA0-0511-4A87-85FD-C6BFD035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72050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DBE250-8B46-4AEC-96A7-D9274E6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292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个人任务       →       协同闭环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63DABA-BE66-42F8-BCA2-E6BF29F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86400"/>
            <a:ext cx="396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能够识别跨组依赖中的关键风险，用实测和 Mock 建立可验证、可并行的推进路径。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C28DB1-9B60-4A74-9EB2-E50262D3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87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A083A2-97F2-4DFF-8C85-811887DB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577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下一步精进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8EBA3D-7681-426F-878C-D4A644C2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62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全局规划与节奏掌控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60A230-2C33-4CD8-AF36-DAFADE9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768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强化跨方节奏预判与共识建立，将风险进一步前置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B2A2C9-27A8-4F7A-A7F0-0D3EC4A7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340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E3AF6F-8CBE-40D9-913E-F567222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626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节奏预判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5F3843-7A51-4622-A775-93A5A50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7340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336DC1-AB0C-4AE3-8981-B92CAFD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626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共识构建</a:t>
            </a:r>
          </a:p>
        </p:txBody>
      </p:sp>
    </p:spTree>
    <p:extLst>
      <p:ext uri="{BB962C8B-B14F-4D97-AF65-F5344CB8AC3E}">
        <p14:creationId xmlns:p14="http://schemas.microsoft.com/office/powerpoint/2010/main" val="1574801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2026-08-16T09:37:33.2860000Z</dcterms:created>
  <dcterms:modified xsi:type="dcterms:W3CDTF">2026-08-16T09:37:33.2860000Z</dcterms:modified>
</coreProperties>
</file>