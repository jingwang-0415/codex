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5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868680"/>
            <a:ext cx="10835640" cy="4892040"/>
          </a:xfrm>
          <a:prstGeom prst="roundRect">
            <a:avLst/>
          </a:prstGeom>
          <a:solidFill>
            <a:srgbClr val="F8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417320"/>
            <a:ext cx="9875520" cy="1645920"/>
          </a:xfrm>
          <a:prstGeom prst="rect">
            <a:avLst/>
          </a:prstGeom>
          <a:noFill/>
        </p:spPr>
        <p:txBody>
          <a:bodyPr wrap="none" anchor="ctr">
            <a:spAutoFit/>
          </a:bodyPr>
          <a:lstStyle/>
          <a:p>
            <a:r>
              <a:rPr sz="2800" b="1">
                <a:solidFill>
                  <a:srgbClr val="152D4E"/>
                </a:solidFill>
              </a:rPr>
              <a:t>全球 AI 提升软件工程开发效率
现状与案例调研</a:t>
            </a:r>
          </a:p>
        </p:txBody>
      </p:sp>
      <p:sp>
        <p:nvSpPr>
          <p:cNvPr id="5" name="TextBox 4"/>
          <p:cNvSpPr txBox="1"/>
          <p:nvPr/>
        </p:nvSpPr>
        <p:spPr>
          <a:xfrm>
            <a:off x="1143000" y="3246120"/>
            <a:ext cx="8961120" cy="640080"/>
          </a:xfrm>
          <a:prstGeom prst="rect">
            <a:avLst/>
          </a:prstGeom>
          <a:noFill/>
        </p:spPr>
        <p:txBody>
          <a:bodyPr wrap="none">
            <a:spAutoFit/>
          </a:bodyPr>
          <a:lstStyle/>
          <a:p>
            <a:r>
              <a:rPr sz="1600">
                <a:solidFill>
                  <a:srgbClr val="606C76"/>
                </a:solidFill>
              </a:rPr>
              <a:t>基于公开官方报告、客户案例与开发者调查整理</a:t>
            </a:r>
          </a:p>
        </p:txBody>
      </p:sp>
      <p:sp>
        <p:nvSpPr>
          <p:cNvPr id="6" name="TextBox 5"/>
          <p:cNvSpPr txBox="1"/>
          <p:nvPr/>
        </p:nvSpPr>
        <p:spPr>
          <a:xfrm>
            <a:off x="1143000" y="5074920"/>
            <a:ext cx="5029200" cy="365760"/>
          </a:xfrm>
          <a:prstGeom prst="rect">
            <a:avLst/>
          </a:prstGeom>
          <a:noFill/>
        </p:spPr>
        <p:txBody>
          <a:bodyPr wrap="none">
            <a:spAutoFit/>
          </a:bodyPr>
          <a:lstStyle/>
          <a:p>
            <a:r>
              <a:rPr sz="1200">
                <a:solidFill>
                  <a:srgbClr val="CA712C"/>
                </a:solidFill>
              </a:rPr>
              <a:t>日期：2026-04-20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76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822960"/>
          </a:xfrm>
          <a:prstGeom prst="rect">
            <a:avLst/>
          </a:prstGeom>
          <a:noFill/>
        </p:spPr>
        <p:txBody>
          <a:bodyPr wrap="none">
            <a:spAutoFit/>
          </a:bodyPr>
          <a:lstStyle/>
          <a:p>
            <a:r>
              <a:rPr sz="2400" b="1">
                <a:solidFill>
                  <a:srgbClr val="152D4E"/>
                </a:solidFill>
              </a:rPr>
              <a:t>核心结论</a:t>
            </a:r>
          </a:p>
        </p:txBody>
      </p:sp>
      <p:sp>
        <p:nvSpPr>
          <p:cNvPr id="4" name="TextBox 3"/>
          <p:cNvSpPr txBox="1"/>
          <p:nvPr/>
        </p:nvSpPr>
        <p:spPr>
          <a:xfrm>
            <a:off x="658368" y="1005840"/>
            <a:ext cx="10515600" cy="411480"/>
          </a:xfrm>
          <a:prstGeom prst="rect">
            <a:avLst/>
          </a:prstGeom>
          <a:noFill/>
        </p:spPr>
        <p:txBody>
          <a:bodyPr wrap="none">
            <a:spAutoFit/>
          </a:bodyPr>
          <a:lstStyle/>
          <a:p>
            <a:r>
              <a:rPr sz="1000">
                <a:solidFill>
                  <a:srgbClr val="606C76"/>
                </a:solidFill>
              </a:rPr>
              <a:t>AI 已从代码补全演进为覆盖整个软件工程流程的协作式与代理式工作流</a:t>
            </a:r>
          </a:p>
        </p:txBody>
      </p:sp>
      <p:sp>
        <p:nvSpPr>
          <p:cNvPr id="5" name="TextBox 4"/>
          <p:cNvSpPr txBox="1"/>
          <p:nvPr/>
        </p:nvSpPr>
        <p:spPr>
          <a:xfrm>
            <a:off x="685800" y="6400800"/>
            <a:ext cx="10972800" cy="228600"/>
          </a:xfrm>
          <a:prstGeom prst="rect">
            <a:avLst/>
          </a:prstGeom>
          <a:noFill/>
        </p:spPr>
        <p:txBody>
          <a:bodyPr wrap="none">
            <a:spAutoFit/>
          </a:bodyPr>
          <a:lstStyle/>
          <a:p>
            <a:r>
              <a:rPr sz="800">
                <a:solidFill>
                  <a:srgbClr val="606C76"/>
                </a:solidFill>
              </a:rPr>
              <a:t>资料来源均来自公开官方报告、官方博客或官方客户案例</a:t>
            </a:r>
          </a:p>
        </p:txBody>
      </p:sp>
      <p:sp>
        <p:nvSpPr>
          <p:cNvPr id="6" name="TextBox 5"/>
          <p:cNvSpPr txBox="1"/>
          <p:nvPr/>
        </p:nvSpPr>
        <p:spPr>
          <a:xfrm>
            <a:off x="868680" y="1554480"/>
            <a:ext cx="10241280" cy="4297680"/>
          </a:xfrm>
          <a:prstGeom prst="rect">
            <a:avLst/>
          </a:prstGeom>
          <a:noFill/>
        </p:spPr>
        <p:txBody>
          <a:bodyPr wrap="square" lIns="0" rIns="0" tIns="0" bIns="0">
            <a:spAutoFit/>
          </a:bodyPr>
          <a:lstStyle/>
          <a:p>
            <a:pPr>
              <a:lnSpc>
                <a:spcPct val="115000"/>
              </a:lnSpc>
              <a:spcAft>
                <a:spcPts val="1000"/>
              </a:spcAft>
              <a:defRPr sz="2000">
                <a:solidFill>
                  <a:srgbClr val="2D3436"/>
                </a:solidFill>
              </a:defRPr>
            </a:pPr>
            <a:r>
              <a:t>使用率高：AI 已成为开发团队主流工具，而非可选项。</a:t>
            </a:r>
          </a:p>
          <a:p>
            <a:pPr>
              <a:lnSpc>
                <a:spcPct val="115000"/>
              </a:lnSpc>
              <a:spcAft>
                <a:spcPts val="1000"/>
              </a:spcAft>
              <a:defRPr sz="2000">
                <a:solidFill>
                  <a:srgbClr val="2D3436"/>
                </a:solidFill>
              </a:defRPr>
            </a:pPr>
            <a:r>
              <a:t>重点场景成熟：代码生成、测试、调试、文档、评审、迁移升级最先出 ROI。</a:t>
            </a:r>
          </a:p>
          <a:p>
            <a:pPr>
              <a:lnSpc>
                <a:spcPct val="115000"/>
              </a:lnSpc>
              <a:spcAft>
                <a:spcPts val="1000"/>
              </a:spcAft>
              <a:defRPr sz="2000">
                <a:solidFill>
                  <a:srgbClr val="2D3436"/>
                </a:solidFill>
              </a:defRPr>
            </a:pPr>
            <a:r>
              <a:t>组织差异决定效果：统一平台、测试体系、反馈回路和治理能力会放大收益。</a:t>
            </a:r>
          </a:p>
          <a:p>
            <a:pPr>
              <a:lnSpc>
                <a:spcPct val="115000"/>
              </a:lnSpc>
              <a:spcAft>
                <a:spcPts val="1000"/>
              </a:spcAft>
              <a:defRPr sz="2000">
                <a:solidFill>
                  <a:srgbClr val="2D3436"/>
                </a:solidFill>
              </a:defRPr>
            </a:pPr>
            <a:r>
              <a:t>趋势升级明显：从 IDE 内 Copilot，走向接入代码库、工单、日志和 CI 的工程代理。</a:t>
            </a:r>
          </a:p>
          <a:p>
            <a:pPr>
              <a:lnSpc>
                <a:spcPct val="115000"/>
              </a:lnSpc>
              <a:spcAft>
                <a:spcPts val="1000"/>
              </a:spcAft>
              <a:defRPr sz="2000">
                <a:solidFill>
                  <a:srgbClr val="2D3436"/>
                </a:solidFill>
              </a:defRPr>
            </a:pPr>
            <a:r>
              <a:t>管理重点改变：效率提升不再只看写码速度，而看吞吐、质量、稳定性是否一起改善。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76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822960"/>
          </a:xfrm>
          <a:prstGeom prst="rect">
            <a:avLst/>
          </a:prstGeom>
          <a:noFill/>
        </p:spPr>
        <p:txBody>
          <a:bodyPr wrap="none">
            <a:spAutoFit/>
          </a:bodyPr>
          <a:lstStyle/>
          <a:p>
            <a:r>
              <a:rPr sz="2400" b="1">
                <a:solidFill>
                  <a:srgbClr val="152D4E"/>
                </a:solidFill>
              </a:rPr>
              <a:t>现状 1：使用率已高，但信任仍不足</a:t>
            </a:r>
          </a:p>
        </p:txBody>
      </p:sp>
      <p:sp>
        <p:nvSpPr>
          <p:cNvPr id="4" name="TextBox 3"/>
          <p:cNvSpPr txBox="1"/>
          <p:nvPr/>
        </p:nvSpPr>
        <p:spPr>
          <a:xfrm>
            <a:off x="658368" y="1005840"/>
            <a:ext cx="10515600" cy="411480"/>
          </a:xfrm>
          <a:prstGeom prst="rect">
            <a:avLst/>
          </a:prstGeom>
          <a:noFill/>
        </p:spPr>
        <p:txBody>
          <a:bodyPr wrap="none">
            <a:spAutoFit/>
          </a:bodyPr>
          <a:lstStyle/>
          <a:p>
            <a:r>
              <a:rPr sz="1000">
                <a:solidFill>
                  <a:srgbClr val="606C76"/>
                </a:solidFill>
              </a:rPr>
              <a:t>对应调研文档 2.1</a:t>
            </a:r>
          </a:p>
        </p:txBody>
      </p:sp>
      <p:sp>
        <p:nvSpPr>
          <p:cNvPr id="5" name="TextBox 4"/>
          <p:cNvSpPr txBox="1"/>
          <p:nvPr/>
        </p:nvSpPr>
        <p:spPr>
          <a:xfrm>
            <a:off x="685800" y="6400800"/>
            <a:ext cx="10972800" cy="228600"/>
          </a:xfrm>
          <a:prstGeom prst="rect">
            <a:avLst/>
          </a:prstGeom>
          <a:noFill/>
        </p:spPr>
        <p:txBody>
          <a:bodyPr wrap="none">
            <a:spAutoFit/>
          </a:bodyPr>
          <a:lstStyle/>
          <a:p>
            <a:r>
              <a:rPr sz="800">
                <a:solidFill>
                  <a:srgbClr val="606C76"/>
                </a:solidFill>
              </a:rPr>
              <a:t>资料来源均来自公开官方报告、官方博客或官方客户案例</a:t>
            </a:r>
          </a:p>
        </p:txBody>
      </p:sp>
      <p:sp>
        <p:nvSpPr>
          <p:cNvPr id="6" name="Rounded Rectangle 5"/>
          <p:cNvSpPr/>
          <p:nvPr/>
        </p:nvSpPr>
        <p:spPr>
          <a:xfrm>
            <a:off x="731520" y="1508760"/>
            <a:ext cx="10698480" cy="502920"/>
          </a:xfrm>
          <a:prstGeom prst="roundRect">
            <a:avLst/>
          </a:prstGeom>
          <a:solidFill>
            <a:srgbClr val="276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9344"/>
            <a:ext cx="10058400" cy="274320"/>
          </a:xfrm>
          <a:prstGeom prst="rect">
            <a:avLst/>
          </a:prstGeom>
          <a:noFill/>
        </p:spPr>
        <p:txBody>
          <a:bodyPr wrap="none">
            <a:spAutoFit/>
          </a:bodyPr>
          <a:lstStyle/>
          <a:p>
            <a:pPr algn="ctr"/>
            <a:r>
              <a:rPr sz="1800" b="1">
                <a:solidFill>
                  <a:srgbClr val="FFFFFF"/>
                </a:solidFill>
              </a:rPr>
              <a:t>主流组织已经在用 AI，但开发者仍然默认需要人工验证</a:t>
            </a:r>
          </a:p>
        </p:txBody>
      </p:sp>
      <p:sp>
        <p:nvSpPr>
          <p:cNvPr id="8" name="Rounded Rectangle 7"/>
          <p:cNvSpPr/>
          <p:nvPr/>
        </p:nvSpPr>
        <p:spPr>
          <a:xfrm>
            <a:off x="731520" y="1508760"/>
            <a:ext cx="5074920" cy="44348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719072"/>
            <a:ext cx="4480560" cy="365760"/>
          </a:xfrm>
          <a:prstGeom prst="rect">
            <a:avLst/>
          </a:prstGeom>
          <a:noFill/>
        </p:spPr>
        <p:txBody>
          <a:bodyPr wrap="none">
            <a:spAutoFit/>
          </a:bodyPr>
          <a:lstStyle/>
          <a:p>
            <a:r>
              <a:rPr sz="1600" b="1">
                <a:solidFill>
                  <a:srgbClr val="276E78"/>
                </a:solidFill>
              </a:rPr>
              <a:t>公开数据</a:t>
            </a:r>
          </a:p>
        </p:txBody>
      </p:sp>
      <p:sp>
        <p:nvSpPr>
          <p:cNvPr id="10" name="TextBox 9"/>
          <p:cNvSpPr txBox="1"/>
          <p:nvPr/>
        </p:nvSpPr>
        <p:spPr>
          <a:xfrm>
            <a:off x="932688" y="2148840"/>
            <a:ext cx="4526280" cy="3566160"/>
          </a:xfrm>
          <a:prstGeom prst="rect">
            <a:avLst/>
          </a:prstGeom>
          <a:noFill/>
        </p:spPr>
        <p:txBody>
          <a:bodyPr wrap="square" lIns="0" rIns="0" tIns="0" bIns="0">
            <a:spAutoFit/>
          </a:bodyPr>
          <a:lstStyle/>
          <a:p>
            <a:pPr>
              <a:lnSpc>
                <a:spcPct val="115000"/>
              </a:lnSpc>
              <a:spcAft>
                <a:spcPts val="1000"/>
              </a:spcAft>
              <a:defRPr sz="1500">
                <a:solidFill>
                  <a:srgbClr val="2D3436"/>
                </a:solidFill>
              </a:defRPr>
            </a:pPr>
            <a:r>
              <a:t>84% 的开发者已使用或计划使用 AI 工具参与开发。</a:t>
            </a:r>
          </a:p>
          <a:p>
            <a:pPr>
              <a:lnSpc>
                <a:spcPct val="115000"/>
              </a:lnSpc>
              <a:spcAft>
                <a:spcPts val="1000"/>
              </a:spcAft>
              <a:defRPr sz="1500">
                <a:solidFill>
                  <a:srgbClr val="2D3436"/>
                </a:solidFill>
              </a:defRPr>
            </a:pPr>
            <a:r>
              <a:t>50.6% 的职业开发者表示每天使用 AI。</a:t>
            </a:r>
          </a:p>
          <a:p>
            <a:pPr>
              <a:lnSpc>
                <a:spcPct val="115000"/>
              </a:lnSpc>
              <a:spcAft>
                <a:spcPts val="1000"/>
              </a:spcAft>
              <a:defRPr sz="1500">
                <a:solidFill>
                  <a:srgbClr val="2D3436"/>
                </a:solidFill>
              </a:defRPr>
            </a:pPr>
            <a:r>
              <a:t>46% 的开发者不信任 AI 输出准确性。</a:t>
            </a:r>
          </a:p>
          <a:p>
            <a:pPr>
              <a:lnSpc>
                <a:spcPct val="115000"/>
              </a:lnSpc>
              <a:spcAft>
                <a:spcPts val="1000"/>
              </a:spcAft>
              <a:defRPr sz="1500">
                <a:solidFill>
                  <a:srgbClr val="2D3436"/>
                </a:solidFill>
              </a:defRPr>
            </a:pPr>
            <a:r>
              <a:t>只有 33% 的开发者表示信任 AI 输出。</a:t>
            </a:r>
          </a:p>
        </p:txBody>
      </p:sp>
      <p:sp>
        <p:nvSpPr>
          <p:cNvPr id="11" name="Rounded Rectangle 10"/>
          <p:cNvSpPr/>
          <p:nvPr/>
        </p:nvSpPr>
        <p:spPr>
          <a:xfrm>
            <a:off x="6172200" y="1508760"/>
            <a:ext cx="5074920" cy="44348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719072"/>
            <a:ext cx="4480560" cy="365760"/>
          </a:xfrm>
          <a:prstGeom prst="rect">
            <a:avLst/>
          </a:prstGeom>
          <a:noFill/>
        </p:spPr>
        <p:txBody>
          <a:bodyPr wrap="none">
            <a:spAutoFit/>
          </a:bodyPr>
          <a:lstStyle/>
          <a:p>
            <a:r>
              <a:rPr sz="1600" b="1">
                <a:solidFill>
                  <a:srgbClr val="CA712C"/>
                </a:solidFill>
              </a:rPr>
              <a:t>管理含义</a:t>
            </a:r>
          </a:p>
        </p:txBody>
      </p:sp>
      <p:sp>
        <p:nvSpPr>
          <p:cNvPr id="13" name="TextBox 12"/>
          <p:cNvSpPr txBox="1"/>
          <p:nvPr/>
        </p:nvSpPr>
        <p:spPr>
          <a:xfrm>
            <a:off x="6373368" y="2148840"/>
            <a:ext cx="4526280" cy="3566160"/>
          </a:xfrm>
          <a:prstGeom prst="rect">
            <a:avLst/>
          </a:prstGeom>
          <a:noFill/>
        </p:spPr>
        <p:txBody>
          <a:bodyPr wrap="square" lIns="0" rIns="0" tIns="0" bIns="0">
            <a:spAutoFit/>
          </a:bodyPr>
          <a:lstStyle/>
          <a:p>
            <a:pPr>
              <a:lnSpc>
                <a:spcPct val="115000"/>
              </a:lnSpc>
              <a:spcAft>
                <a:spcPts val="1000"/>
              </a:spcAft>
              <a:defRPr sz="1500">
                <a:solidFill>
                  <a:srgbClr val="2D3436"/>
                </a:solidFill>
              </a:defRPr>
            </a:pPr>
            <a:r>
              <a:t>AI 已经普及，但尚未获得“默认可信”的工程地位。</a:t>
            </a:r>
          </a:p>
          <a:p>
            <a:pPr>
              <a:lnSpc>
                <a:spcPct val="115000"/>
              </a:lnSpc>
              <a:spcAft>
                <a:spcPts val="1000"/>
              </a:spcAft>
              <a:defRPr sz="1500">
                <a:solidFill>
                  <a:srgbClr val="2D3436"/>
                </a:solidFill>
              </a:defRPr>
            </a:pPr>
            <a:r>
              <a:t>高频使用不代表可跳过测试、评审和验收。</a:t>
            </a:r>
          </a:p>
          <a:p>
            <a:pPr>
              <a:lnSpc>
                <a:spcPct val="115000"/>
              </a:lnSpc>
              <a:spcAft>
                <a:spcPts val="1000"/>
              </a:spcAft>
              <a:defRPr sz="1500">
                <a:solidFill>
                  <a:srgbClr val="2D3436"/>
                </a:solidFill>
              </a:defRPr>
            </a:pPr>
            <a:r>
              <a:t>团队要把验证体系建设成 AI 提效的前提，而不是事后补救。</a:t>
            </a:r>
          </a:p>
          <a:p>
            <a:pPr>
              <a:lnSpc>
                <a:spcPct val="115000"/>
              </a:lnSpc>
              <a:spcAft>
                <a:spcPts val="1000"/>
              </a:spcAft>
              <a:defRPr sz="1500">
                <a:solidFill>
                  <a:srgbClr val="2D3436"/>
                </a:solidFill>
              </a:defRPr>
            </a:pPr>
            <a:r>
              <a:t>最有效的定位是“加速器 + 建议者”，不是完全替代者。</a:t>
            </a:r>
          </a:p>
        </p:txBody>
      </p:sp>
      <p:sp>
        <p:nvSpPr>
          <p:cNvPr id="14" name="Rounded Rectangle 13"/>
          <p:cNvSpPr/>
          <p:nvPr/>
        </p:nvSpPr>
        <p:spPr>
          <a:xfrm>
            <a:off x="868680" y="5257800"/>
            <a:ext cx="10332720" cy="7772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5440680"/>
            <a:ext cx="9875520" cy="411480"/>
          </a:xfrm>
          <a:prstGeom prst="rect">
            <a:avLst/>
          </a:prstGeom>
          <a:noFill/>
        </p:spPr>
        <p:txBody>
          <a:bodyPr wrap="square">
            <a:spAutoFit/>
          </a:bodyPr>
          <a:lstStyle/>
          <a:p>
            <a:pPr>
              <a:spcAft>
                <a:spcPts val="200"/>
              </a:spcAft>
              <a:defRPr sz="900">
                <a:solidFill>
                  <a:srgbClr val="606C76"/>
                </a:solidFill>
              </a:defRPr>
            </a:pPr>
            <a:r>
              <a:t>来源：Stack Overflow Developer Survey 2025 AI Section</a:t>
            </a:r>
          </a:p>
          <a:p>
            <a:pPr>
              <a:spcAft>
                <a:spcPts val="200"/>
              </a:spcAft>
              <a:defRPr sz="900">
                <a:solidFill>
                  <a:srgbClr val="606C76"/>
                </a:solidFill>
              </a:defRPr>
            </a:pPr>
            <a:r>
              <a:t>链接：https://survey.stackoverflow.co/2025/ai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CA71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822960"/>
          </a:xfrm>
          <a:prstGeom prst="rect">
            <a:avLst/>
          </a:prstGeom>
          <a:noFill/>
        </p:spPr>
        <p:txBody>
          <a:bodyPr wrap="none">
            <a:spAutoFit/>
          </a:bodyPr>
          <a:lstStyle/>
          <a:p>
            <a:r>
              <a:rPr sz="2400" b="1">
                <a:solidFill>
                  <a:srgbClr val="152D4E"/>
                </a:solidFill>
              </a:rPr>
              <a:t>现状 2：最成熟的场景集中在高频、重复、可验证任务</a:t>
            </a:r>
          </a:p>
        </p:txBody>
      </p:sp>
      <p:sp>
        <p:nvSpPr>
          <p:cNvPr id="4" name="TextBox 3"/>
          <p:cNvSpPr txBox="1"/>
          <p:nvPr/>
        </p:nvSpPr>
        <p:spPr>
          <a:xfrm>
            <a:off x="658368" y="1005840"/>
            <a:ext cx="10515600" cy="411480"/>
          </a:xfrm>
          <a:prstGeom prst="rect">
            <a:avLst/>
          </a:prstGeom>
          <a:noFill/>
        </p:spPr>
        <p:txBody>
          <a:bodyPr wrap="none">
            <a:spAutoFit/>
          </a:bodyPr>
          <a:lstStyle/>
          <a:p>
            <a:r>
              <a:rPr sz="1000">
                <a:solidFill>
                  <a:srgbClr val="606C76"/>
                </a:solidFill>
              </a:rPr>
              <a:t>对应调研文档 2.2</a:t>
            </a:r>
          </a:p>
        </p:txBody>
      </p:sp>
      <p:sp>
        <p:nvSpPr>
          <p:cNvPr id="5" name="TextBox 4"/>
          <p:cNvSpPr txBox="1"/>
          <p:nvPr/>
        </p:nvSpPr>
        <p:spPr>
          <a:xfrm>
            <a:off x="685800" y="6400800"/>
            <a:ext cx="10972800" cy="228600"/>
          </a:xfrm>
          <a:prstGeom prst="rect">
            <a:avLst/>
          </a:prstGeom>
          <a:noFill/>
        </p:spPr>
        <p:txBody>
          <a:bodyPr wrap="none">
            <a:spAutoFit/>
          </a:bodyPr>
          <a:lstStyle/>
          <a:p>
            <a:r>
              <a:rPr sz="800">
                <a:solidFill>
                  <a:srgbClr val="606C76"/>
                </a:solidFill>
              </a:rPr>
              <a:t>资料来源均来自公开官方报告、官方博客或官方客户案例</a:t>
            </a:r>
          </a:p>
        </p:txBody>
      </p:sp>
      <p:sp>
        <p:nvSpPr>
          <p:cNvPr id="6" name="Rounded Rectangle 5"/>
          <p:cNvSpPr/>
          <p:nvPr/>
        </p:nvSpPr>
        <p:spPr>
          <a:xfrm>
            <a:off x="731520" y="1508760"/>
            <a:ext cx="10698480" cy="502920"/>
          </a:xfrm>
          <a:prstGeom prst="roundRect">
            <a:avLst/>
          </a:prstGeom>
          <a:solidFill>
            <a:srgbClr val="CA71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9344"/>
            <a:ext cx="10058400" cy="274320"/>
          </a:xfrm>
          <a:prstGeom prst="rect">
            <a:avLst/>
          </a:prstGeom>
          <a:noFill/>
        </p:spPr>
        <p:txBody>
          <a:bodyPr wrap="none">
            <a:spAutoFit/>
          </a:bodyPr>
          <a:lstStyle/>
          <a:p>
            <a:pPr algn="ctr"/>
            <a:r>
              <a:rPr sz="1800" b="1">
                <a:solidFill>
                  <a:srgbClr val="FFFFFF"/>
                </a:solidFill>
              </a:rPr>
              <a:t>AI 最容易先替代机械性劳动，再辅助复杂工程决策</a:t>
            </a:r>
          </a:p>
        </p:txBody>
      </p:sp>
      <p:sp>
        <p:nvSpPr>
          <p:cNvPr id="8" name="Rounded Rectangle 7"/>
          <p:cNvSpPr/>
          <p:nvPr/>
        </p:nvSpPr>
        <p:spPr>
          <a:xfrm>
            <a:off x="731520" y="1508760"/>
            <a:ext cx="5074920" cy="44348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719072"/>
            <a:ext cx="4480560" cy="365760"/>
          </a:xfrm>
          <a:prstGeom prst="rect">
            <a:avLst/>
          </a:prstGeom>
          <a:noFill/>
        </p:spPr>
        <p:txBody>
          <a:bodyPr wrap="none">
            <a:spAutoFit/>
          </a:bodyPr>
          <a:lstStyle/>
          <a:p>
            <a:r>
              <a:rPr sz="1600" b="1">
                <a:solidFill>
                  <a:srgbClr val="276E78"/>
                </a:solidFill>
              </a:rPr>
              <a:t>成熟场景</a:t>
            </a:r>
          </a:p>
        </p:txBody>
      </p:sp>
      <p:sp>
        <p:nvSpPr>
          <p:cNvPr id="10" name="TextBox 9"/>
          <p:cNvSpPr txBox="1"/>
          <p:nvPr/>
        </p:nvSpPr>
        <p:spPr>
          <a:xfrm>
            <a:off x="932688" y="2148840"/>
            <a:ext cx="4526280" cy="3566160"/>
          </a:xfrm>
          <a:prstGeom prst="rect">
            <a:avLst/>
          </a:prstGeom>
          <a:noFill/>
        </p:spPr>
        <p:txBody>
          <a:bodyPr wrap="square" lIns="0" rIns="0" tIns="0" bIns="0">
            <a:spAutoFit/>
          </a:bodyPr>
          <a:lstStyle/>
          <a:p>
            <a:pPr>
              <a:lnSpc>
                <a:spcPct val="115000"/>
              </a:lnSpc>
              <a:spcAft>
                <a:spcPts val="1000"/>
              </a:spcAft>
              <a:defRPr sz="1500">
                <a:solidFill>
                  <a:srgbClr val="2D3436"/>
                </a:solidFill>
              </a:defRPr>
            </a:pPr>
            <a:r>
              <a:t>代码生成与补全：函数、样板代码、接口、脚手架。</a:t>
            </a:r>
          </a:p>
          <a:p>
            <a:pPr>
              <a:lnSpc>
                <a:spcPct val="115000"/>
              </a:lnSpc>
              <a:spcAft>
                <a:spcPts val="1000"/>
              </a:spcAft>
              <a:defRPr sz="1500">
                <a:solidFill>
                  <a:srgbClr val="2D3436"/>
                </a:solidFill>
              </a:defRPr>
            </a:pPr>
            <a:r>
              <a:t>代码理解：解释陌生仓库、定位依赖、生成说明。</a:t>
            </a:r>
          </a:p>
          <a:p>
            <a:pPr>
              <a:lnSpc>
                <a:spcPct val="115000"/>
              </a:lnSpc>
              <a:spcAft>
                <a:spcPts val="1000"/>
              </a:spcAft>
              <a:defRPr sz="1500">
                <a:solidFill>
                  <a:srgbClr val="2D3436"/>
                </a:solidFill>
              </a:defRPr>
            </a:pPr>
            <a:r>
              <a:t>测试与调试：生成单测、定位报错、给出修复建议。</a:t>
            </a:r>
          </a:p>
          <a:p>
            <a:pPr>
              <a:lnSpc>
                <a:spcPct val="115000"/>
              </a:lnSpc>
              <a:spcAft>
                <a:spcPts val="1000"/>
              </a:spcAft>
              <a:defRPr sz="1500">
                <a:solidFill>
                  <a:srgbClr val="2D3436"/>
                </a:solidFill>
              </a:defRPr>
            </a:pPr>
            <a:r>
              <a:t>文档沉淀：PR 摘要、变更说明、技术文档。</a:t>
            </a:r>
          </a:p>
        </p:txBody>
      </p:sp>
      <p:sp>
        <p:nvSpPr>
          <p:cNvPr id="11" name="Rounded Rectangle 10"/>
          <p:cNvSpPr/>
          <p:nvPr/>
        </p:nvSpPr>
        <p:spPr>
          <a:xfrm>
            <a:off x="6172200" y="1508760"/>
            <a:ext cx="5074920" cy="44348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719072"/>
            <a:ext cx="4480560" cy="365760"/>
          </a:xfrm>
          <a:prstGeom prst="rect">
            <a:avLst/>
          </a:prstGeom>
          <a:noFill/>
        </p:spPr>
        <p:txBody>
          <a:bodyPr wrap="none">
            <a:spAutoFit/>
          </a:bodyPr>
          <a:lstStyle/>
          <a:p>
            <a:r>
              <a:rPr sz="1600" b="1">
                <a:solidFill>
                  <a:srgbClr val="CA712C"/>
                </a:solidFill>
              </a:rPr>
              <a:t>为什么这些场景先成熟</a:t>
            </a:r>
          </a:p>
        </p:txBody>
      </p:sp>
      <p:sp>
        <p:nvSpPr>
          <p:cNvPr id="13" name="TextBox 12"/>
          <p:cNvSpPr txBox="1"/>
          <p:nvPr/>
        </p:nvSpPr>
        <p:spPr>
          <a:xfrm>
            <a:off x="6373368" y="2148840"/>
            <a:ext cx="4526280" cy="3566160"/>
          </a:xfrm>
          <a:prstGeom prst="rect">
            <a:avLst/>
          </a:prstGeom>
          <a:noFill/>
        </p:spPr>
        <p:txBody>
          <a:bodyPr wrap="square" lIns="0" rIns="0" tIns="0" bIns="0">
            <a:spAutoFit/>
          </a:bodyPr>
          <a:lstStyle/>
          <a:p>
            <a:pPr>
              <a:lnSpc>
                <a:spcPct val="115000"/>
              </a:lnSpc>
              <a:spcAft>
                <a:spcPts val="1000"/>
              </a:spcAft>
              <a:defRPr sz="1500">
                <a:solidFill>
                  <a:srgbClr val="2D3436"/>
                </a:solidFill>
              </a:defRPr>
            </a:pPr>
            <a:r>
              <a:t>任务重复率高，标准化程度高。</a:t>
            </a:r>
          </a:p>
          <a:p>
            <a:pPr>
              <a:lnSpc>
                <a:spcPct val="115000"/>
              </a:lnSpc>
              <a:spcAft>
                <a:spcPts val="1000"/>
              </a:spcAft>
              <a:defRPr sz="1500">
                <a:solidFill>
                  <a:srgbClr val="2D3436"/>
                </a:solidFill>
              </a:defRPr>
            </a:pPr>
            <a:r>
              <a:t>结果可被编译、测试、lint、规则快速验证。</a:t>
            </a:r>
          </a:p>
          <a:p>
            <a:pPr>
              <a:lnSpc>
                <a:spcPct val="115000"/>
              </a:lnSpc>
              <a:spcAft>
                <a:spcPts val="1000"/>
              </a:spcAft>
              <a:defRPr sz="1500">
                <a:solidFill>
                  <a:srgbClr val="2D3436"/>
                </a:solidFill>
              </a:defRPr>
            </a:pPr>
            <a:r>
              <a:t>依赖的上下文相对明确，易于接入代码库与文档。</a:t>
            </a:r>
          </a:p>
          <a:p>
            <a:pPr>
              <a:lnSpc>
                <a:spcPct val="115000"/>
              </a:lnSpc>
              <a:spcAft>
                <a:spcPts val="1000"/>
              </a:spcAft>
              <a:defRPr sz="1500">
                <a:solidFill>
                  <a:srgbClr val="2D3436"/>
                </a:solidFill>
              </a:defRPr>
            </a:pPr>
            <a:r>
              <a:t>失败成本相对可控，适合逐步扩大权限。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5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822960"/>
          </a:xfrm>
          <a:prstGeom prst="rect">
            <a:avLst/>
          </a:prstGeom>
          <a:noFill/>
        </p:spPr>
        <p:txBody>
          <a:bodyPr wrap="none">
            <a:spAutoFit/>
          </a:bodyPr>
          <a:lstStyle/>
          <a:p>
            <a:r>
              <a:rPr sz="2400" b="1">
                <a:solidFill>
                  <a:srgbClr val="152D4E"/>
                </a:solidFill>
              </a:rPr>
              <a:t>现状 3：高责任环节仍然谨慎</a:t>
            </a:r>
          </a:p>
        </p:txBody>
      </p:sp>
      <p:sp>
        <p:nvSpPr>
          <p:cNvPr id="4" name="TextBox 3"/>
          <p:cNvSpPr txBox="1"/>
          <p:nvPr/>
        </p:nvSpPr>
        <p:spPr>
          <a:xfrm>
            <a:off x="658368" y="1005840"/>
            <a:ext cx="10515600" cy="411480"/>
          </a:xfrm>
          <a:prstGeom prst="rect">
            <a:avLst/>
          </a:prstGeom>
          <a:noFill/>
        </p:spPr>
        <p:txBody>
          <a:bodyPr wrap="none">
            <a:spAutoFit/>
          </a:bodyPr>
          <a:lstStyle/>
          <a:p>
            <a:r>
              <a:rPr sz="1000">
                <a:solidFill>
                  <a:srgbClr val="606C76"/>
                </a:solidFill>
              </a:rPr>
              <a:t>对应调研文档 2.3</a:t>
            </a:r>
          </a:p>
        </p:txBody>
      </p:sp>
      <p:sp>
        <p:nvSpPr>
          <p:cNvPr id="5" name="TextBox 4"/>
          <p:cNvSpPr txBox="1"/>
          <p:nvPr/>
        </p:nvSpPr>
        <p:spPr>
          <a:xfrm>
            <a:off x="685800" y="6400800"/>
            <a:ext cx="10972800" cy="228600"/>
          </a:xfrm>
          <a:prstGeom prst="rect">
            <a:avLst/>
          </a:prstGeom>
          <a:noFill/>
        </p:spPr>
        <p:txBody>
          <a:bodyPr wrap="none">
            <a:spAutoFit/>
          </a:bodyPr>
          <a:lstStyle/>
          <a:p>
            <a:r>
              <a:rPr sz="800">
                <a:solidFill>
                  <a:srgbClr val="606C76"/>
                </a:solidFill>
              </a:rPr>
              <a:t>资料来源均来自公开官方报告、官方博客或官方客户案例</a:t>
            </a:r>
          </a:p>
        </p:txBody>
      </p:sp>
      <p:sp>
        <p:nvSpPr>
          <p:cNvPr id="6" name="Rounded Rectangle 5"/>
          <p:cNvSpPr/>
          <p:nvPr/>
        </p:nvSpPr>
        <p:spPr>
          <a:xfrm>
            <a:off x="731520" y="1508760"/>
            <a:ext cx="10698480" cy="502920"/>
          </a:xfrm>
          <a:prstGeom prst="roundRect">
            <a:avLst/>
          </a:prstGeom>
          <a:solidFill>
            <a:srgbClr val="15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9344"/>
            <a:ext cx="10058400" cy="274320"/>
          </a:xfrm>
          <a:prstGeom prst="rect">
            <a:avLst/>
          </a:prstGeom>
          <a:noFill/>
        </p:spPr>
        <p:txBody>
          <a:bodyPr wrap="none">
            <a:spAutoFit/>
          </a:bodyPr>
          <a:lstStyle/>
          <a:p>
            <a:pPr algn="ctr"/>
            <a:r>
              <a:rPr sz="1800" b="1">
                <a:solidFill>
                  <a:srgbClr val="FFFFFF"/>
                </a:solidFill>
              </a:rPr>
              <a:t>在部署、监控、项目规划等高责任场景，全球团队仍更保守</a:t>
            </a:r>
          </a:p>
        </p:txBody>
      </p:sp>
      <p:sp>
        <p:nvSpPr>
          <p:cNvPr id="8" name="Rounded Rectangle 7"/>
          <p:cNvSpPr/>
          <p:nvPr/>
        </p:nvSpPr>
        <p:spPr>
          <a:xfrm>
            <a:off x="731520" y="1508760"/>
            <a:ext cx="5074920" cy="44348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719072"/>
            <a:ext cx="4480560" cy="365760"/>
          </a:xfrm>
          <a:prstGeom prst="rect">
            <a:avLst/>
          </a:prstGeom>
          <a:noFill/>
        </p:spPr>
        <p:txBody>
          <a:bodyPr wrap="none">
            <a:spAutoFit/>
          </a:bodyPr>
          <a:lstStyle/>
          <a:p>
            <a:r>
              <a:rPr sz="1600" b="1">
                <a:solidFill>
                  <a:srgbClr val="276E78"/>
                </a:solidFill>
              </a:rPr>
              <a:t>公开调查</a:t>
            </a:r>
          </a:p>
        </p:txBody>
      </p:sp>
      <p:sp>
        <p:nvSpPr>
          <p:cNvPr id="10" name="TextBox 9"/>
          <p:cNvSpPr txBox="1"/>
          <p:nvPr/>
        </p:nvSpPr>
        <p:spPr>
          <a:xfrm>
            <a:off x="932688" y="2148840"/>
            <a:ext cx="4526280" cy="3566160"/>
          </a:xfrm>
          <a:prstGeom prst="rect">
            <a:avLst/>
          </a:prstGeom>
          <a:noFill/>
        </p:spPr>
        <p:txBody>
          <a:bodyPr wrap="square" lIns="0" rIns="0" tIns="0" bIns="0">
            <a:spAutoFit/>
          </a:bodyPr>
          <a:lstStyle/>
          <a:p>
            <a:pPr>
              <a:lnSpc>
                <a:spcPct val="115000"/>
              </a:lnSpc>
              <a:spcAft>
                <a:spcPts val="1000"/>
              </a:spcAft>
              <a:defRPr sz="1500">
                <a:solidFill>
                  <a:srgbClr val="2D3436"/>
                </a:solidFill>
              </a:defRPr>
            </a:pPr>
            <a:r>
              <a:t>75.8% 的受访者不计划把 AI 用于 deployment and monitoring。</a:t>
            </a:r>
          </a:p>
          <a:p>
            <a:pPr>
              <a:lnSpc>
                <a:spcPct val="115000"/>
              </a:lnSpc>
              <a:spcAft>
                <a:spcPts val="1000"/>
              </a:spcAft>
              <a:defRPr sz="1500">
                <a:solidFill>
                  <a:srgbClr val="2D3436"/>
                </a:solidFill>
              </a:defRPr>
            </a:pPr>
            <a:r>
              <a:t>69.2% 的受访者不计划把 AI 用于 project planning。</a:t>
            </a:r>
          </a:p>
          <a:p>
            <a:pPr>
              <a:lnSpc>
                <a:spcPct val="115000"/>
              </a:lnSpc>
              <a:spcAft>
                <a:spcPts val="1000"/>
              </a:spcAft>
              <a:defRPr sz="1500">
                <a:solidFill>
                  <a:srgbClr val="2D3436"/>
                </a:solidFill>
              </a:defRPr>
            </a:pPr>
            <a:r>
              <a:t>说明 AI 在高风险、高责任环节仍未获得充分授权。</a:t>
            </a:r>
          </a:p>
        </p:txBody>
      </p:sp>
      <p:sp>
        <p:nvSpPr>
          <p:cNvPr id="11" name="Rounded Rectangle 10"/>
          <p:cNvSpPr/>
          <p:nvPr/>
        </p:nvSpPr>
        <p:spPr>
          <a:xfrm>
            <a:off x="6172200" y="1508760"/>
            <a:ext cx="5074920" cy="44348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719072"/>
            <a:ext cx="4480560" cy="365760"/>
          </a:xfrm>
          <a:prstGeom prst="rect">
            <a:avLst/>
          </a:prstGeom>
          <a:noFill/>
        </p:spPr>
        <p:txBody>
          <a:bodyPr wrap="none">
            <a:spAutoFit/>
          </a:bodyPr>
          <a:lstStyle/>
          <a:p>
            <a:r>
              <a:rPr sz="1600" b="1">
                <a:solidFill>
                  <a:srgbClr val="CA712C"/>
                </a:solidFill>
              </a:rPr>
              <a:t>实际启示</a:t>
            </a:r>
          </a:p>
        </p:txBody>
      </p:sp>
      <p:sp>
        <p:nvSpPr>
          <p:cNvPr id="13" name="TextBox 12"/>
          <p:cNvSpPr txBox="1"/>
          <p:nvPr/>
        </p:nvSpPr>
        <p:spPr>
          <a:xfrm>
            <a:off x="6373368" y="2148840"/>
            <a:ext cx="4526280" cy="3566160"/>
          </a:xfrm>
          <a:prstGeom prst="rect">
            <a:avLst/>
          </a:prstGeom>
          <a:noFill/>
        </p:spPr>
        <p:txBody>
          <a:bodyPr wrap="square" lIns="0" rIns="0" tIns="0" bIns="0">
            <a:spAutoFit/>
          </a:bodyPr>
          <a:lstStyle/>
          <a:p>
            <a:pPr>
              <a:lnSpc>
                <a:spcPct val="115000"/>
              </a:lnSpc>
              <a:spcAft>
                <a:spcPts val="1000"/>
              </a:spcAft>
              <a:defRPr sz="1500">
                <a:solidFill>
                  <a:srgbClr val="2D3436"/>
                </a:solidFill>
              </a:defRPr>
            </a:pPr>
            <a:r>
              <a:t>AI 更适合作为建议者、自动化执行者和辅助分析者。</a:t>
            </a:r>
          </a:p>
          <a:p>
            <a:pPr>
              <a:lnSpc>
                <a:spcPct val="115000"/>
              </a:lnSpc>
              <a:spcAft>
                <a:spcPts val="1000"/>
              </a:spcAft>
              <a:defRPr sz="1500">
                <a:solidFill>
                  <a:srgbClr val="2D3436"/>
                </a:solidFill>
              </a:defRPr>
            </a:pPr>
            <a:r>
              <a:t>最终上线、资源权衡、优先级判断仍需人工拍板。</a:t>
            </a:r>
          </a:p>
          <a:p>
            <a:pPr>
              <a:lnSpc>
                <a:spcPct val="115000"/>
              </a:lnSpc>
              <a:spcAft>
                <a:spcPts val="1000"/>
              </a:spcAft>
              <a:defRPr sz="1500">
                <a:solidFill>
                  <a:srgbClr val="2D3436"/>
                </a:solidFill>
              </a:defRPr>
            </a:pPr>
            <a:r>
              <a:t>若要扩展到高责任环节，必须同步增加权限治理和回滚机制。</a:t>
            </a:r>
          </a:p>
        </p:txBody>
      </p:sp>
      <p:sp>
        <p:nvSpPr>
          <p:cNvPr id="14" name="Rounded Rectangle 13"/>
          <p:cNvSpPr/>
          <p:nvPr/>
        </p:nvSpPr>
        <p:spPr>
          <a:xfrm>
            <a:off x="868680" y="5257800"/>
            <a:ext cx="10332720" cy="7772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5440680"/>
            <a:ext cx="9875520" cy="411480"/>
          </a:xfrm>
          <a:prstGeom prst="rect">
            <a:avLst/>
          </a:prstGeom>
          <a:noFill/>
        </p:spPr>
        <p:txBody>
          <a:bodyPr wrap="square">
            <a:spAutoFit/>
          </a:bodyPr>
          <a:lstStyle/>
          <a:p>
            <a:pPr>
              <a:spcAft>
                <a:spcPts val="200"/>
              </a:spcAft>
              <a:defRPr sz="900">
                <a:solidFill>
                  <a:srgbClr val="606C76"/>
                </a:solidFill>
              </a:defRPr>
            </a:pPr>
            <a:r>
              <a:t>来源：Stack Overflow Developer Survey 2025 AI Section</a:t>
            </a:r>
          </a:p>
          <a:p>
            <a:pPr>
              <a:spcAft>
                <a:spcPts val="200"/>
              </a:spcAft>
              <a:defRPr sz="900">
                <a:solidFill>
                  <a:srgbClr val="606C76"/>
                </a:solidFill>
              </a:defRPr>
            </a:pPr>
            <a:r>
              <a:t>链接：https://survey.stackoverflow.co/2025/ai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76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822960"/>
          </a:xfrm>
          <a:prstGeom prst="rect">
            <a:avLst/>
          </a:prstGeom>
          <a:noFill/>
        </p:spPr>
        <p:txBody>
          <a:bodyPr wrap="none">
            <a:spAutoFit/>
          </a:bodyPr>
          <a:lstStyle/>
          <a:p>
            <a:r>
              <a:rPr sz="2400" b="1">
                <a:solidFill>
                  <a:srgbClr val="152D4E"/>
                </a:solidFill>
              </a:rPr>
              <a:t>现状 4：AI 更像组织能力放大器</a:t>
            </a:r>
          </a:p>
        </p:txBody>
      </p:sp>
      <p:sp>
        <p:nvSpPr>
          <p:cNvPr id="4" name="TextBox 3"/>
          <p:cNvSpPr txBox="1"/>
          <p:nvPr/>
        </p:nvSpPr>
        <p:spPr>
          <a:xfrm>
            <a:off x="658368" y="1005840"/>
            <a:ext cx="10515600" cy="411480"/>
          </a:xfrm>
          <a:prstGeom prst="rect">
            <a:avLst/>
          </a:prstGeom>
          <a:noFill/>
        </p:spPr>
        <p:txBody>
          <a:bodyPr wrap="none">
            <a:spAutoFit/>
          </a:bodyPr>
          <a:lstStyle/>
          <a:p>
            <a:r>
              <a:rPr sz="1000">
                <a:solidFill>
                  <a:srgbClr val="606C76"/>
                </a:solidFill>
              </a:rPr>
              <a:t>对应调研文档 2.4</a:t>
            </a:r>
          </a:p>
        </p:txBody>
      </p:sp>
      <p:sp>
        <p:nvSpPr>
          <p:cNvPr id="5" name="TextBox 4"/>
          <p:cNvSpPr txBox="1"/>
          <p:nvPr/>
        </p:nvSpPr>
        <p:spPr>
          <a:xfrm>
            <a:off x="685800" y="6400800"/>
            <a:ext cx="10972800" cy="228600"/>
          </a:xfrm>
          <a:prstGeom prst="rect">
            <a:avLst/>
          </a:prstGeom>
          <a:noFill/>
        </p:spPr>
        <p:txBody>
          <a:bodyPr wrap="none">
            <a:spAutoFit/>
          </a:bodyPr>
          <a:lstStyle/>
          <a:p>
            <a:r>
              <a:rPr sz="800">
                <a:solidFill>
                  <a:srgbClr val="606C76"/>
                </a:solidFill>
              </a:rPr>
              <a:t>资料来源均来自公开官方报告、官方博客或官方客户案例</a:t>
            </a:r>
          </a:p>
        </p:txBody>
      </p:sp>
      <p:sp>
        <p:nvSpPr>
          <p:cNvPr id="6" name="Rounded Rectangle 5"/>
          <p:cNvSpPr/>
          <p:nvPr/>
        </p:nvSpPr>
        <p:spPr>
          <a:xfrm>
            <a:off x="731520" y="1508760"/>
            <a:ext cx="10698480" cy="502920"/>
          </a:xfrm>
          <a:prstGeom prst="roundRect">
            <a:avLst/>
          </a:prstGeom>
          <a:solidFill>
            <a:srgbClr val="276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9344"/>
            <a:ext cx="10058400" cy="274320"/>
          </a:xfrm>
          <a:prstGeom prst="rect">
            <a:avLst/>
          </a:prstGeom>
          <a:noFill/>
        </p:spPr>
        <p:txBody>
          <a:bodyPr wrap="none">
            <a:spAutoFit/>
          </a:bodyPr>
          <a:lstStyle/>
          <a:p>
            <a:pPr algn="ctr"/>
            <a:r>
              <a:rPr sz="1800" b="1">
                <a:solidFill>
                  <a:srgbClr val="FFFFFF"/>
                </a:solidFill>
              </a:rPr>
              <a:t>能否真正提效，关键不在“有没有 AI”，而在“工程体系是否接得住”</a:t>
            </a:r>
          </a:p>
        </p:txBody>
      </p:sp>
      <p:sp>
        <p:nvSpPr>
          <p:cNvPr id="8" name="Rounded Rectangle 7"/>
          <p:cNvSpPr/>
          <p:nvPr/>
        </p:nvSpPr>
        <p:spPr>
          <a:xfrm>
            <a:off x="731520" y="1508760"/>
            <a:ext cx="5074920" cy="44348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719072"/>
            <a:ext cx="4480560" cy="365760"/>
          </a:xfrm>
          <a:prstGeom prst="rect">
            <a:avLst/>
          </a:prstGeom>
          <a:noFill/>
        </p:spPr>
        <p:txBody>
          <a:bodyPr wrap="none">
            <a:spAutoFit/>
          </a:bodyPr>
          <a:lstStyle/>
          <a:p>
            <a:r>
              <a:rPr sz="1600" b="1">
                <a:solidFill>
                  <a:srgbClr val="276E78"/>
                </a:solidFill>
              </a:rPr>
              <a:t>DORA 2025 观察</a:t>
            </a:r>
          </a:p>
        </p:txBody>
      </p:sp>
      <p:sp>
        <p:nvSpPr>
          <p:cNvPr id="10" name="TextBox 9"/>
          <p:cNvSpPr txBox="1"/>
          <p:nvPr/>
        </p:nvSpPr>
        <p:spPr>
          <a:xfrm>
            <a:off x="932688" y="2148840"/>
            <a:ext cx="4526280" cy="3566160"/>
          </a:xfrm>
          <a:prstGeom prst="rect">
            <a:avLst/>
          </a:prstGeom>
          <a:noFill/>
        </p:spPr>
        <p:txBody>
          <a:bodyPr wrap="square" lIns="0" rIns="0" tIns="0" bIns="0">
            <a:spAutoFit/>
          </a:bodyPr>
          <a:lstStyle/>
          <a:p>
            <a:pPr>
              <a:lnSpc>
                <a:spcPct val="115000"/>
              </a:lnSpc>
              <a:spcAft>
                <a:spcPts val="1000"/>
              </a:spcAft>
              <a:defRPr sz="1500">
                <a:solidFill>
                  <a:srgbClr val="2D3436"/>
                </a:solidFill>
              </a:defRPr>
            </a:pPr>
            <a:r>
              <a:t>90% 的技术从业者表示已在工作中使用 AI。</a:t>
            </a:r>
          </a:p>
          <a:p>
            <a:pPr>
              <a:lnSpc>
                <a:spcPct val="115000"/>
              </a:lnSpc>
              <a:spcAft>
                <a:spcPts val="1000"/>
              </a:spcAft>
              <a:defRPr sz="1500">
                <a:solidFill>
                  <a:srgbClr val="2D3436"/>
                </a:solidFill>
              </a:defRPr>
            </a:pPr>
            <a:r>
              <a:t>超过 80% 认为 AI 提高了生产力。</a:t>
            </a:r>
          </a:p>
          <a:p>
            <a:pPr>
              <a:lnSpc>
                <a:spcPct val="115000"/>
              </a:lnSpc>
              <a:spcAft>
                <a:spcPts val="1000"/>
              </a:spcAft>
              <a:defRPr sz="1500">
                <a:solidFill>
                  <a:srgbClr val="2D3436"/>
                </a:solidFill>
              </a:defRPr>
            </a:pPr>
            <a:r>
              <a:t>AI 与吞吐量、产品表现正相关。</a:t>
            </a:r>
          </a:p>
          <a:p>
            <a:pPr>
              <a:lnSpc>
                <a:spcPct val="115000"/>
              </a:lnSpc>
              <a:spcAft>
                <a:spcPts val="1000"/>
              </a:spcAft>
              <a:defRPr sz="1500">
                <a:solidFill>
                  <a:srgbClr val="2D3436"/>
                </a:solidFill>
              </a:defRPr>
            </a:pPr>
            <a:r>
              <a:t>AI 与交付稳定性仍存在负相关风险。</a:t>
            </a:r>
          </a:p>
        </p:txBody>
      </p:sp>
      <p:sp>
        <p:nvSpPr>
          <p:cNvPr id="11" name="Rounded Rectangle 10"/>
          <p:cNvSpPr/>
          <p:nvPr/>
        </p:nvSpPr>
        <p:spPr>
          <a:xfrm>
            <a:off x="6172200" y="1508760"/>
            <a:ext cx="5074920" cy="44348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719072"/>
            <a:ext cx="4480560" cy="365760"/>
          </a:xfrm>
          <a:prstGeom prst="rect">
            <a:avLst/>
          </a:prstGeom>
          <a:noFill/>
        </p:spPr>
        <p:txBody>
          <a:bodyPr wrap="none">
            <a:spAutoFit/>
          </a:bodyPr>
          <a:lstStyle/>
          <a:p>
            <a:r>
              <a:rPr sz="1600" b="1">
                <a:solidFill>
                  <a:srgbClr val="CA712C"/>
                </a:solidFill>
              </a:rPr>
              <a:t>组织要求</a:t>
            </a:r>
          </a:p>
        </p:txBody>
      </p:sp>
      <p:sp>
        <p:nvSpPr>
          <p:cNvPr id="13" name="TextBox 12"/>
          <p:cNvSpPr txBox="1"/>
          <p:nvPr/>
        </p:nvSpPr>
        <p:spPr>
          <a:xfrm>
            <a:off x="6373368" y="2148840"/>
            <a:ext cx="4526280" cy="3566160"/>
          </a:xfrm>
          <a:prstGeom prst="rect">
            <a:avLst/>
          </a:prstGeom>
          <a:noFill/>
        </p:spPr>
        <p:txBody>
          <a:bodyPr wrap="square" lIns="0" rIns="0" tIns="0" bIns="0">
            <a:spAutoFit/>
          </a:bodyPr>
          <a:lstStyle/>
          <a:p>
            <a:pPr>
              <a:lnSpc>
                <a:spcPct val="115000"/>
              </a:lnSpc>
              <a:spcAft>
                <a:spcPts val="1000"/>
              </a:spcAft>
              <a:defRPr sz="1500">
                <a:solidFill>
                  <a:srgbClr val="2D3436"/>
                </a:solidFill>
              </a:defRPr>
            </a:pPr>
            <a:r>
              <a:t>需要高质量内部平台、清晰工作流和快速反馈环路。</a:t>
            </a:r>
          </a:p>
          <a:p>
            <a:pPr>
              <a:lnSpc>
                <a:spcPct val="115000"/>
              </a:lnSpc>
              <a:spcAft>
                <a:spcPts val="1000"/>
              </a:spcAft>
              <a:defRPr sz="1500">
                <a:solidFill>
                  <a:srgbClr val="2D3436"/>
                </a:solidFill>
              </a:defRPr>
            </a:pPr>
            <a:r>
              <a:t>自动化测试、版本管理和可观测性是必要护栏。</a:t>
            </a:r>
          </a:p>
          <a:p>
            <a:pPr>
              <a:lnSpc>
                <a:spcPct val="115000"/>
              </a:lnSpc>
              <a:spcAft>
                <a:spcPts val="1000"/>
              </a:spcAft>
              <a:defRPr sz="1500">
                <a:solidFill>
                  <a:srgbClr val="2D3436"/>
                </a:solidFill>
              </a:defRPr>
            </a:pPr>
            <a:r>
              <a:t>如果质量体系薄弱，AI 往往只会放大现有问题。</a:t>
            </a:r>
          </a:p>
          <a:p>
            <a:pPr>
              <a:lnSpc>
                <a:spcPct val="115000"/>
              </a:lnSpc>
              <a:spcAft>
                <a:spcPts val="1000"/>
              </a:spcAft>
              <a:defRPr sz="1500">
                <a:solidFill>
                  <a:srgbClr val="2D3436"/>
                </a:solidFill>
              </a:defRPr>
            </a:pPr>
            <a:r>
              <a:t>先进团队更重视系统效率，而非单点写码速度。</a:t>
            </a:r>
          </a:p>
        </p:txBody>
      </p:sp>
      <p:sp>
        <p:nvSpPr>
          <p:cNvPr id="14" name="Rounded Rectangle 13"/>
          <p:cNvSpPr/>
          <p:nvPr/>
        </p:nvSpPr>
        <p:spPr>
          <a:xfrm>
            <a:off x="868680" y="5257800"/>
            <a:ext cx="10332720" cy="7772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5440680"/>
            <a:ext cx="9875520" cy="411480"/>
          </a:xfrm>
          <a:prstGeom prst="rect">
            <a:avLst/>
          </a:prstGeom>
          <a:noFill/>
        </p:spPr>
        <p:txBody>
          <a:bodyPr wrap="square">
            <a:spAutoFit/>
          </a:bodyPr>
          <a:lstStyle/>
          <a:p>
            <a:pPr>
              <a:spcAft>
                <a:spcPts val="200"/>
              </a:spcAft>
              <a:defRPr sz="900">
                <a:solidFill>
                  <a:srgbClr val="606C76"/>
                </a:solidFill>
              </a:defRPr>
            </a:pPr>
            <a:r>
              <a:t>来源：DORA 2025 State of AI-assisted Software Development / Google Cloud</a:t>
            </a:r>
          </a:p>
          <a:p>
            <a:pPr>
              <a:spcAft>
                <a:spcPts val="200"/>
              </a:spcAft>
              <a:defRPr sz="900">
                <a:solidFill>
                  <a:srgbClr val="606C76"/>
                </a:solidFill>
              </a:defRPr>
            </a:pPr>
            <a:r>
              <a:t>链接：https://dora.dev/report/2025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CA71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822960"/>
          </a:xfrm>
          <a:prstGeom prst="rect">
            <a:avLst/>
          </a:prstGeom>
          <a:noFill/>
        </p:spPr>
        <p:txBody>
          <a:bodyPr wrap="none">
            <a:spAutoFit/>
          </a:bodyPr>
          <a:lstStyle/>
          <a:p>
            <a:r>
              <a:rPr sz="2400" b="1">
                <a:solidFill>
                  <a:srgbClr val="152D4E"/>
                </a:solidFill>
              </a:rPr>
              <a:t>当前主流落地模式</a:t>
            </a:r>
          </a:p>
        </p:txBody>
      </p:sp>
      <p:sp>
        <p:nvSpPr>
          <p:cNvPr id="4" name="TextBox 3"/>
          <p:cNvSpPr txBox="1"/>
          <p:nvPr/>
        </p:nvSpPr>
        <p:spPr>
          <a:xfrm>
            <a:off x="658368" y="1005840"/>
            <a:ext cx="10515600" cy="411480"/>
          </a:xfrm>
          <a:prstGeom prst="rect">
            <a:avLst/>
          </a:prstGeom>
          <a:noFill/>
        </p:spPr>
        <p:txBody>
          <a:bodyPr wrap="none">
            <a:spAutoFit/>
          </a:bodyPr>
          <a:lstStyle/>
          <a:p>
            <a:r>
              <a:rPr sz="1000">
                <a:solidFill>
                  <a:srgbClr val="606C76"/>
                </a:solidFill>
              </a:rPr>
              <a:t>从工具辅助走向代理协作</a:t>
            </a:r>
          </a:p>
        </p:txBody>
      </p:sp>
      <p:sp>
        <p:nvSpPr>
          <p:cNvPr id="5" name="TextBox 4"/>
          <p:cNvSpPr txBox="1"/>
          <p:nvPr/>
        </p:nvSpPr>
        <p:spPr>
          <a:xfrm>
            <a:off x="685800" y="6400800"/>
            <a:ext cx="10972800" cy="228600"/>
          </a:xfrm>
          <a:prstGeom prst="rect">
            <a:avLst/>
          </a:prstGeom>
          <a:noFill/>
        </p:spPr>
        <p:txBody>
          <a:bodyPr wrap="none">
            <a:spAutoFit/>
          </a:bodyPr>
          <a:lstStyle/>
          <a:p>
            <a:r>
              <a:rPr sz="800">
                <a:solidFill>
                  <a:srgbClr val="606C76"/>
                </a:solidFill>
              </a:rPr>
              <a:t>资料来源均来自公开官方报告、官方博客或官方客户案例</a:t>
            </a:r>
          </a:p>
        </p:txBody>
      </p:sp>
      <p:sp>
        <p:nvSpPr>
          <p:cNvPr id="6" name="TextBox 5"/>
          <p:cNvSpPr txBox="1"/>
          <p:nvPr/>
        </p:nvSpPr>
        <p:spPr>
          <a:xfrm>
            <a:off x="868680" y="1554480"/>
            <a:ext cx="10241280" cy="4297680"/>
          </a:xfrm>
          <a:prstGeom prst="rect">
            <a:avLst/>
          </a:prstGeom>
          <a:noFill/>
        </p:spPr>
        <p:txBody>
          <a:bodyPr wrap="square" lIns="0" rIns="0" tIns="0" bIns="0">
            <a:spAutoFit/>
          </a:bodyPr>
          <a:lstStyle/>
          <a:p>
            <a:pPr>
              <a:lnSpc>
                <a:spcPct val="115000"/>
              </a:lnSpc>
              <a:spcAft>
                <a:spcPts val="1000"/>
              </a:spcAft>
              <a:defRPr sz="1800">
                <a:solidFill>
                  <a:srgbClr val="2D3436"/>
                </a:solidFill>
              </a:defRPr>
            </a:pPr>
            <a:r>
              <a:t>IDE 内 Copilot：在 VS Code / JetBrains 中做补全、解释、重构、问答。</a:t>
            </a:r>
          </a:p>
          <a:p>
            <a:pPr>
              <a:lnSpc>
                <a:spcPct val="115000"/>
              </a:lnSpc>
              <a:spcAft>
                <a:spcPts val="1000"/>
              </a:spcAft>
              <a:defRPr sz="1800">
                <a:solidFill>
                  <a:srgbClr val="2D3436"/>
                </a:solidFill>
              </a:defRPr>
            </a:pPr>
            <a:r>
              <a:t>代码库理解与跨文件修改：对整个仓库建立索引，处理依赖更新和多文件修改。</a:t>
            </a:r>
          </a:p>
          <a:p>
            <a:pPr>
              <a:lnSpc>
                <a:spcPct val="115000"/>
              </a:lnSpc>
              <a:spcAft>
                <a:spcPts val="1000"/>
              </a:spcAft>
              <a:defRPr sz="1800">
                <a:solidFill>
                  <a:srgbClr val="2D3436"/>
                </a:solidFill>
              </a:defRPr>
            </a:pPr>
            <a:r>
              <a:t>代理式开发：读取代码、文档、Issue、日志，自动改代码、跑测试、开 PR。</a:t>
            </a:r>
          </a:p>
          <a:p>
            <a:pPr>
              <a:lnSpc>
                <a:spcPct val="115000"/>
              </a:lnSpc>
              <a:spcAft>
                <a:spcPts val="1000"/>
              </a:spcAft>
              <a:defRPr sz="1800">
                <a:solidFill>
                  <a:srgbClr val="2D3436"/>
                </a:solidFill>
              </a:defRPr>
            </a:pPr>
            <a:r>
              <a:t>AI 代码评审：在 PR 阶段自动检查逻辑缺陷、边界场景和安全问题。</a:t>
            </a:r>
          </a:p>
          <a:p>
            <a:pPr>
              <a:lnSpc>
                <a:spcPct val="115000"/>
              </a:lnSpc>
              <a:spcAft>
                <a:spcPts val="1000"/>
              </a:spcAft>
              <a:defRPr sz="1800">
                <a:solidFill>
                  <a:srgbClr val="2D3436"/>
                </a:solidFill>
              </a:defRPr>
            </a:pPr>
            <a:r>
              <a:t>现代化改造：面向 Java/.NET 升级、框架迁移、技术债治理等高 ROI 场景。</a:t>
            </a:r>
          </a:p>
          <a:p>
            <a:pPr>
              <a:lnSpc>
                <a:spcPct val="115000"/>
              </a:lnSpc>
              <a:spcAft>
                <a:spcPts val="1000"/>
              </a:spcAft>
              <a:defRPr sz="1800">
                <a:solidFill>
                  <a:srgbClr val="2D3436"/>
                </a:solidFill>
              </a:defRPr>
            </a:pPr>
            <a:r>
              <a:t>治理驱动模式：围绕接受率、PR 周转、缺陷率和稳定性建立度量与护栏。</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76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822960"/>
          </a:xfrm>
          <a:prstGeom prst="rect">
            <a:avLst/>
          </a:prstGeom>
          <a:noFill/>
        </p:spPr>
        <p:txBody>
          <a:bodyPr wrap="none">
            <a:spAutoFit/>
          </a:bodyPr>
          <a:lstStyle/>
          <a:p>
            <a:r>
              <a:rPr sz="2400" b="1">
                <a:solidFill>
                  <a:srgbClr val="152D4E"/>
                </a:solidFill>
              </a:rPr>
              <a:t>代表案例一览</a:t>
            </a:r>
          </a:p>
        </p:txBody>
      </p:sp>
      <p:sp>
        <p:nvSpPr>
          <p:cNvPr id="4" name="TextBox 3"/>
          <p:cNvSpPr txBox="1"/>
          <p:nvPr/>
        </p:nvSpPr>
        <p:spPr>
          <a:xfrm>
            <a:off x="658368" y="1005840"/>
            <a:ext cx="10515600" cy="411480"/>
          </a:xfrm>
          <a:prstGeom prst="rect">
            <a:avLst/>
          </a:prstGeom>
          <a:noFill/>
        </p:spPr>
        <p:txBody>
          <a:bodyPr wrap="none">
            <a:spAutoFit/>
          </a:bodyPr>
          <a:lstStyle/>
          <a:p>
            <a:r>
              <a:rPr sz="1000">
                <a:solidFill>
                  <a:srgbClr val="606C76"/>
                </a:solidFill>
              </a:rPr>
              <a:t>文档中已展开 7 个案例，这里汇总最具代表性的 6 个</a:t>
            </a:r>
          </a:p>
        </p:txBody>
      </p:sp>
      <p:sp>
        <p:nvSpPr>
          <p:cNvPr id="5" name="TextBox 4"/>
          <p:cNvSpPr txBox="1"/>
          <p:nvPr/>
        </p:nvSpPr>
        <p:spPr>
          <a:xfrm>
            <a:off x="685800" y="6400800"/>
            <a:ext cx="10972800" cy="228600"/>
          </a:xfrm>
          <a:prstGeom prst="rect">
            <a:avLst/>
          </a:prstGeom>
          <a:noFill/>
        </p:spPr>
        <p:txBody>
          <a:bodyPr wrap="none">
            <a:spAutoFit/>
          </a:bodyPr>
          <a:lstStyle/>
          <a:p>
            <a:r>
              <a:rPr sz="800">
                <a:solidFill>
                  <a:srgbClr val="606C76"/>
                </a:solidFill>
              </a:rPr>
              <a:t>资料来源均来自公开官方报告、官方博客或官方客户案例</a:t>
            </a:r>
          </a:p>
        </p:txBody>
      </p:sp>
      <p:sp>
        <p:nvSpPr>
          <p:cNvPr id="6" name="Rounded Rectangle 5"/>
          <p:cNvSpPr/>
          <p:nvPr/>
        </p:nvSpPr>
        <p:spPr>
          <a:xfrm>
            <a:off x="731520" y="1508760"/>
            <a:ext cx="2880360" cy="17830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36776"/>
            <a:ext cx="2468880" cy="320040"/>
          </a:xfrm>
          <a:prstGeom prst="rect">
            <a:avLst/>
          </a:prstGeom>
          <a:noFill/>
        </p:spPr>
        <p:txBody>
          <a:bodyPr wrap="none">
            <a:spAutoFit/>
          </a:bodyPr>
          <a:lstStyle/>
          <a:p>
            <a:r>
              <a:rPr sz="1400" b="1">
                <a:solidFill>
                  <a:srgbClr val="152D4E"/>
                </a:solidFill>
              </a:rPr>
              <a:t>Accenture</a:t>
            </a:r>
          </a:p>
        </p:txBody>
      </p:sp>
      <p:sp>
        <p:nvSpPr>
          <p:cNvPr id="8" name="TextBox 7"/>
          <p:cNvSpPr txBox="1"/>
          <p:nvPr/>
        </p:nvSpPr>
        <p:spPr>
          <a:xfrm>
            <a:off x="896112" y="1965960"/>
            <a:ext cx="2560320" cy="274320"/>
          </a:xfrm>
          <a:prstGeom prst="rect">
            <a:avLst/>
          </a:prstGeom>
          <a:noFill/>
        </p:spPr>
        <p:txBody>
          <a:bodyPr wrap="none">
            <a:spAutoFit/>
          </a:bodyPr>
          <a:lstStyle/>
          <a:p>
            <a:r>
              <a:rPr sz="1000">
                <a:solidFill>
                  <a:srgbClr val="276E78"/>
                </a:solidFill>
              </a:rPr>
              <a:t>工具：GitHub Copilot</a:t>
            </a:r>
          </a:p>
        </p:txBody>
      </p:sp>
      <p:sp>
        <p:nvSpPr>
          <p:cNvPr id="9" name="TextBox 8"/>
          <p:cNvSpPr txBox="1"/>
          <p:nvPr/>
        </p:nvSpPr>
        <p:spPr>
          <a:xfrm>
            <a:off x="896112" y="2258568"/>
            <a:ext cx="2514600" cy="868680"/>
          </a:xfrm>
          <a:prstGeom prst="rect">
            <a:avLst/>
          </a:prstGeom>
          <a:noFill/>
        </p:spPr>
        <p:txBody>
          <a:bodyPr wrap="square">
            <a:spAutoFit/>
          </a:bodyPr>
          <a:lstStyle/>
          <a:p>
            <a:pPr>
              <a:spcAft>
                <a:spcPts val="300"/>
              </a:spcAft>
              <a:defRPr sz="1000">
                <a:solidFill>
                  <a:srgbClr val="2D3436"/>
                </a:solidFill>
              </a:defRPr>
            </a:pPr>
            <a:r>
              <a:t>企业大规模发放许可证</a:t>
            </a:r>
          </a:p>
          <a:p>
            <a:pPr>
              <a:spcAft>
                <a:spcPts val="300"/>
              </a:spcAft>
              <a:defRPr sz="1000">
                <a:solidFill>
                  <a:srgbClr val="2D3436"/>
                </a:solidFill>
              </a:defRPr>
            </a:pPr>
            <a:r>
              <a:t>日常编码中接受建议</a:t>
            </a:r>
          </a:p>
          <a:p>
            <a:pPr>
              <a:spcAft>
                <a:spcPts val="300"/>
              </a:spcAft>
              <a:defRPr sz="1000">
                <a:solidFill>
                  <a:srgbClr val="2D3436"/>
                </a:solidFill>
              </a:defRPr>
            </a:pPr>
            <a:r>
              <a:t>按接受率与合并率评估效果</a:t>
            </a:r>
          </a:p>
        </p:txBody>
      </p:sp>
      <p:sp>
        <p:nvSpPr>
          <p:cNvPr id="10" name="Rounded Rectangle 9"/>
          <p:cNvSpPr/>
          <p:nvPr/>
        </p:nvSpPr>
        <p:spPr>
          <a:xfrm>
            <a:off x="4069080" y="1508760"/>
            <a:ext cx="2880360" cy="17830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33672" y="1636776"/>
            <a:ext cx="2468880" cy="320040"/>
          </a:xfrm>
          <a:prstGeom prst="rect">
            <a:avLst/>
          </a:prstGeom>
          <a:noFill/>
        </p:spPr>
        <p:txBody>
          <a:bodyPr wrap="none">
            <a:spAutoFit/>
          </a:bodyPr>
          <a:lstStyle/>
          <a:p>
            <a:r>
              <a:rPr sz="1400" b="1">
                <a:solidFill>
                  <a:srgbClr val="152D4E"/>
                </a:solidFill>
              </a:rPr>
              <a:t>Carlsberg</a:t>
            </a:r>
          </a:p>
        </p:txBody>
      </p:sp>
      <p:sp>
        <p:nvSpPr>
          <p:cNvPr id="12" name="TextBox 11"/>
          <p:cNvSpPr txBox="1"/>
          <p:nvPr/>
        </p:nvSpPr>
        <p:spPr>
          <a:xfrm>
            <a:off x="4233672" y="1965960"/>
            <a:ext cx="2560320" cy="274320"/>
          </a:xfrm>
          <a:prstGeom prst="rect">
            <a:avLst/>
          </a:prstGeom>
          <a:noFill/>
        </p:spPr>
        <p:txBody>
          <a:bodyPr wrap="none">
            <a:spAutoFit/>
          </a:bodyPr>
          <a:lstStyle/>
          <a:p>
            <a:r>
              <a:rPr sz="1000">
                <a:solidFill>
                  <a:srgbClr val="276E78"/>
                </a:solidFill>
              </a:rPr>
              <a:t>工具：Copilot + GHAS</a:t>
            </a:r>
          </a:p>
        </p:txBody>
      </p:sp>
      <p:sp>
        <p:nvSpPr>
          <p:cNvPr id="13" name="TextBox 12"/>
          <p:cNvSpPr txBox="1"/>
          <p:nvPr/>
        </p:nvSpPr>
        <p:spPr>
          <a:xfrm>
            <a:off x="4233672" y="2258568"/>
            <a:ext cx="2514600" cy="868680"/>
          </a:xfrm>
          <a:prstGeom prst="rect">
            <a:avLst/>
          </a:prstGeom>
          <a:noFill/>
        </p:spPr>
        <p:txBody>
          <a:bodyPr wrap="square">
            <a:spAutoFit/>
          </a:bodyPr>
          <a:lstStyle/>
          <a:p>
            <a:pPr>
              <a:spcAft>
                <a:spcPts val="300"/>
              </a:spcAft>
              <a:defRPr sz="1000">
                <a:solidFill>
                  <a:srgbClr val="2D3436"/>
                </a:solidFill>
              </a:defRPr>
            </a:pPr>
            <a:r>
              <a:t>统一研发平台</a:t>
            </a:r>
          </a:p>
          <a:p>
            <a:pPr>
              <a:spcAft>
                <a:spcPts val="300"/>
              </a:spcAft>
              <a:defRPr sz="1000">
                <a:solidFill>
                  <a:srgbClr val="2D3436"/>
                </a:solidFill>
              </a:defRPr>
            </a:pPr>
            <a:r>
              <a:t>把 AI 接进安全与 CI 流程</a:t>
            </a:r>
          </a:p>
          <a:p>
            <a:pPr>
              <a:spcAft>
                <a:spcPts val="300"/>
              </a:spcAft>
              <a:defRPr sz="1000">
                <a:solidFill>
                  <a:srgbClr val="2D3436"/>
                </a:solidFill>
              </a:defRPr>
            </a:pPr>
            <a:r>
              <a:t>减少工具切换成本</a:t>
            </a:r>
          </a:p>
        </p:txBody>
      </p:sp>
      <p:sp>
        <p:nvSpPr>
          <p:cNvPr id="14" name="Rounded Rectangle 13"/>
          <p:cNvSpPr/>
          <p:nvPr/>
        </p:nvSpPr>
        <p:spPr>
          <a:xfrm>
            <a:off x="7406640" y="1508760"/>
            <a:ext cx="2880360" cy="17830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71231" y="1636776"/>
            <a:ext cx="2468880" cy="320040"/>
          </a:xfrm>
          <a:prstGeom prst="rect">
            <a:avLst/>
          </a:prstGeom>
          <a:noFill/>
        </p:spPr>
        <p:txBody>
          <a:bodyPr wrap="none">
            <a:spAutoFit/>
          </a:bodyPr>
          <a:lstStyle/>
          <a:p>
            <a:r>
              <a:rPr sz="1400" b="1">
                <a:solidFill>
                  <a:srgbClr val="152D4E"/>
                </a:solidFill>
              </a:rPr>
              <a:t>Dun &amp; Bradstreet</a:t>
            </a:r>
          </a:p>
        </p:txBody>
      </p:sp>
      <p:sp>
        <p:nvSpPr>
          <p:cNvPr id="16" name="TextBox 15"/>
          <p:cNvSpPr txBox="1"/>
          <p:nvPr/>
        </p:nvSpPr>
        <p:spPr>
          <a:xfrm>
            <a:off x="7571231" y="1965960"/>
            <a:ext cx="2560320" cy="274320"/>
          </a:xfrm>
          <a:prstGeom prst="rect">
            <a:avLst/>
          </a:prstGeom>
          <a:noFill/>
        </p:spPr>
        <p:txBody>
          <a:bodyPr wrap="none">
            <a:spAutoFit/>
          </a:bodyPr>
          <a:lstStyle/>
          <a:p>
            <a:r>
              <a:rPr sz="1000">
                <a:solidFill>
                  <a:srgbClr val="276E78"/>
                </a:solidFill>
              </a:rPr>
              <a:t>工具：Gemini Code Assist</a:t>
            </a:r>
          </a:p>
        </p:txBody>
      </p:sp>
      <p:sp>
        <p:nvSpPr>
          <p:cNvPr id="17" name="TextBox 16"/>
          <p:cNvSpPr txBox="1"/>
          <p:nvPr/>
        </p:nvSpPr>
        <p:spPr>
          <a:xfrm>
            <a:off x="7571231" y="2258568"/>
            <a:ext cx="2514600" cy="868680"/>
          </a:xfrm>
          <a:prstGeom prst="rect">
            <a:avLst/>
          </a:prstGeom>
          <a:noFill/>
        </p:spPr>
        <p:txBody>
          <a:bodyPr wrap="square">
            <a:spAutoFit/>
          </a:bodyPr>
          <a:lstStyle/>
          <a:p>
            <a:pPr>
              <a:spcAft>
                <a:spcPts val="300"/>
              </a:spcAft>
              <a:defRPr sz="1000">
                <a:solidFill>
                  <a:srgbClr val="2D3436"/>
                </a:solidFill>
              </a:defRPr>
            </a:pPr>
            <a:r>
              <a:t>先评估再定制接入</a:t>
            </a:r>
          </a:p>
          <a:p>
            <a:pPr>
              <a:spcAft>
                <a:spcPts val="300"/>
              </a:spcAft>
              <a:defRPr sz="1000">
                <a:solidFill>
                  <a:srgbClr val="2D3436"/>
                </a:solidFill>
              </a:defRPr>
            </a:pPr>
            <a:r>
              <a:t>用于代码建议与评审</a:t>
            </a:r>
          </a:p>
          <a:p>
            <a:pPr>
              <a:spcAft>
                <a:spcPts val="300"/>
              </a:spcAft>
              <a:defRPr sz="1000">
                <a:solidFill>
                  <a:srgbClr val="2D3436"/>
                </a:solidFill>
              </a:defRPr>
            </a:pPr>
            <a:r>
              <a:t>兼顾隐私与治理</a:t>
            </a:r>
          </a:p>
        </p:txBody>
      </p:sp>
      <p:sp>
        <p:nvSpPr>
          <p:cNvPr id="18" name="Rounded Rectangle 17"/>
          <p:cNvSpPr/>
          <p:nvPr/>
        </p:nvSpPr>
        <p:spPr>
          <a:xfrm>
            <a:off x="731520" y="3840480"/>
            <a:ext cx="2880360" cy="17830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3968496"/>
            <a:ext cx="2468880" cy="320040"/>
          </a:xfrm>
          <a:prstGeom prst="rect">
            <a:avLst/>
          </a:prstGeom>
          <a:noFill/>
        </p:spPr>
        <p:txBody>
          <a:bodyPr wrap="none">
            <a:spAutoFit/>
          </a:bodyPr>
          <a:lstStyle/>
          <a:p>
            <a:r>
              <a:rPr sz="1400" b="1">
                <a:solidFill>
                  <a:srgbClr val="152D4E"/>
                </a:solidFill>
              </a:rPr>
              <a:t>Novacomp / Signaturit</a:t>
            </a:r>
          </a:p>
        </p:txBody>
      </p:sp>
      <p:sp>
        <p:nvSpPr>
          <p:cNvPr id="20" name="TextBox 19"/>
          <p:cNvSpPr txBox="1"/>
          <p:nvPr/>
        </p:nvSpPr>
        <p:spPr>
          <a:xfrm>
            <a:off x="896112" y="4297680"/>
            <a:ext cx="2560320" cy="274320"/>
          </a:xfrm>
          <a:prstGeom prst="rect">
            <a:avLst/>
          </a:prstGeom>
          <a:noFill/>
        </p:spPr>
        <p:txBody>
          <a:bodyPr wrap="none">
            <a:spAutoFit/>
          </a:bodyPr>
          <a:lstStyle/>
          <a:p>
            <a:r>
              <a:rPr sz="1000">
                <a:solidFill>
                  <a:srgbClr val="276E78"/>
                </a:solidFill>
              </a:rPr>
              <a:t>工具：Amazon Q Transform</a:t>
            </a:r>
          </a:p>
        </p:txBody>
      </p:sp>
      <p:sp>
        <p:nvSpPr>
          <p:cNvPr id="21" name="TextBox 20"/>
          <p:cNvSpPr txBox="1"/>
          <p:nvPr/>
        </p:nvSpPr>
        <p:spPr>
          <a:xfrm>
            <a:off x="896112" y="4590288"/>
            <a:ext cx="2514600" cy="868680"/>
          </a:xfrm>
          <a:prstGeom prst="rect">
            <a:avLst/>
          </a:prstGeom>
          <a:noFill/>
        </p:spPr>
        <p:txBody>
          <a:bodyPr wrap="square">
            <a:spAutoFit/>
          </a:bodyPr>
          <a:lstStyle/>
          <a:p>
            <a:pPr>
              <a:spcAft>
                <a:spcPts val="300"/>
              </a:spcAft>
              <a:defRPr sz="1000">
                <a:solidFill>
                  <a:srgbClr val="2D3436"/>
                </a:solidFill>
              </a:defRPr>
            </a:pPr>
            <a:r>
              <a:t>以代理方式做版本迁移</a:t>
            </a:r>
          </a:p>
          <a:p>
            <a:pPr>
              <a:spcAft>
                <a:spcPts val="300"/>
              </a:spcAft>
              <a:defRPr sz="1000">
                <a:solidFill>
                  <a:srgbClr val="2D3436"/>
                </a:solidFill>
              </a:defRPr>
            </a:pPr>
            <a:r>
              <a:t>自动更新代码并验证</a:t>
            </a:r>
          </a:p>
          <a:p>
            <a:pPr>
              <a:spcAft>
                <a:spcPts val="300"/>
              </a:spcAft>
              <a:defRPr sz="1000">
                <a:solidFill>
                  <a:srgbClr val="2D3436"/>
                </a:solidFill>
              </a:defRPr>
            </a:pPr>
            <a:r>
              <a:t>现代化改造 ROI 明确</a:t>
            </a:r>
          </a:p>
        </p:txBody>
      </p:sp>
      <p:sp>
        <p:nvSpPr>
          <p:cNvPr id="22" name="Rounded Rectangle 21"/>
          <p:cNvSpPr/>
          <p:nvPr/>
        </p:nvSpPr>
        <p:spPr>
          <a:xfrm>
            <a:off x="4069080" y="3840480"/>
            <a:ext cx="2880360" cy="17830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33672" y="3968496"/>
            <a:ext cx="2468880" cy="320040"/>
          </a:xfrm>
          <a:prstGeom prst="rect">
            <a:avLst/>
          </a:prstGeom>
          <a:noFill/>
        </p:spPr>
        <p:txBody>
          <a:bodyPr wrap="none">
            <a:spAutoFit/>
          </a:bodyPr>
          <a:lstStyle/>
          <a:p>
            <a:r>
              <a:rPr sz="1400" b="1">
                <a:solidFill>
                  <a:srgbClr val="152D4E"/>
                </a:solidFill>
              </a:rPr>
              <a:t>NVIDIA</a:t>
            </a:r>
          </a:p>
        </p:txBody>
      </p:sp>
      <p:sp>
        <p:nvSpPr>
          <p:cNvPr id="24" name="TextBox 23"/>
          <p:cNvSpPr txBox="1"/>
          <p:nvPr/>
        </p:nvSpPr>
        <p:spPr>
          <a:xfrm>
            <a:off x="4233672" y="4297680"/>
            <a:ext cx="2560320" cy="274320"/>
          </a:xfrm>
          <a:prstGeom prst="rect">
            <a:avLst/>
          </a:prstGeom>
          <a:noFill/>
        </p:spPr>
        <p:txBody>
          <a:bodyPr wrap="none">
            <a:spAutoFit/>
          </a:bodyPr>
          <a:lstStyle/>
          <a:p>
            <a:r>
              <a:rPr sz="1000">
                <a:solidFill>
                  <a:srgbClr val="276E78"/>
                </a:solidFill>
              </a:rPr>
              <a:t>工具：Cursor</a:t>
            </a:r>
          </a:p>
        </p:txBody>
      </p:sp>
      <p:sp>
        <p:nvSpPr>
          <p:cNvPr id="25" name="TextBox 24"/>
          <p:cNvSpPr txBox="1"/>
          <p:nvPr/>
        </p:nvSpPr>
        <p:spPr>
          <a:xfrm>
            <a:off x="4233672" y="4590288"/>
            <a:ext cx="2514600" cy="868680"/>
          </a:xfrm>
          <a:prstGeom prst="rect">
            <a:avLst/>
          </a:prstGeom>
          <a:noFill/>
        </p:spPr>
        <p:txBody>
          <a:bodyPr wrap="square">
            <a:spAutoFit/>
          </a:bodyPr>
          <a:lstStyle/>
          <a:p>
            <a:pPr>
              <a:spcAft>
                <a:spcPts val="300"/>
              </a:spcAft>
              <a:defRPr sz="1000">
                <a:solidFill>
                  <a:srgbClr val="2D3436"/>
                </a:solidFill>
              </a:defRPr>
            </a:pPr>
            <a:r>
              <a:t>把 AI 扩展到整个 SDLC</a:t>
            </a:r>
          </a:p>
          <a:p>
            <a:pPr>
              <a:spcAft>
                <a:spcPts val="300"/>
              </a:spcAft>
              <a:defRPr sz="1000">
                <a:solidFill>
                  <a:srgbClr val="2D3436"/>
                </a:solidFill>
              </a:defRPr>
            </a:pPr>
            <a:r>
              <a:t>接入文档、票据与测试</a:t>
            </a:r>
          </a:p>
          <a:p>
            <a:pPr>
              <a:spcAft>
                <a:spcPts val="300"/>
              </a:spcAft>
              <a:defRPr sz="1000">
                <a:solidFill>
                  <a:srgbClr val="2D3436"/>
                </a:solidFill>
              </a:defRPr>
            </a:pPr>
            <a:r>
              <a:t>形成代理式工作流</a:t>
            </a:r>
          </a:p>
        </p:txBody>
      </p:sp>
      <p:sp>
        <p:nvSpPr>
          <p:cNvPr id="26" name="Rounded Rectangle 25"/>
          <p:cNvSpPr/>
          <p:nvPr/>
        </p:nvSpPr>
        <p:spPr>
          <a:xfrm>
            <a:off x="7406640" y="3840480"/>
            <a:ext cx="2880360" cy="17830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71231" y="3968496"/>
            <a:ext cx="2468880" cy="320040"/>
          </a:xfrm>
          <a:prstGeom prst="rect">
            <a:avLst/>
          </a:prstGeom>
          <a:noFill/>
        </p:spPr>
        <p:txBody>
          <a:bodyPr wrap="none">
            <a:spAutoFit/>
          </a:bodyPr>
          <a:lstStyle/>
          <a:p>
            <a:r>
              <a:rPr sz="1400" b="1">
                <a:solidFill>
                  <a:srgbClr val="152D4E"/>
                </a:solidFill>
              </a:rPr>
              <a:t>PlanetScale</a:t>
            </a:r>
          </a:p>
        </p:txBody>
      </p:sp>
      <p:sp>
        <p:nvSpPr>
          <p:cNvPr id="28" name="TextBox 27"/>
          <p:cNvSpPr txBox="1"/>
          <p:nvPr/>
        </p:nvSpPr>
        <p:spPr>
          <a:xfrm>
            <a:off x="7571231" y="4297680"/>
            <a:ext cx="2560320" cy="274320"/>
          </a:xfrm>
          <a:prstGeom prst="rect">
            <a:avLst/>
          </a:prstGeom>
          <a:noFill/>
        </p:spPr>
        <p:txBody>
          <a:bodyPr wrap="none">
            <a:spAutoFit/>
          </a:bodyPr>
          <a:lstStyle/>
          <a:p>
            <a:r>
              <a:rPr sz="1000">
                <a:solidFill>
                  <a:srgbClr val="276E78"/>
                </a:solidFill>
              </a:rPr>
              <a:t>工具：Cursor Bugbot</a:t>
            </a:r>
          </a:p>
        </p:txBody>
      </p:sp>
      <p:sp>
        <p:nvSpPr>
          <p:cNvPr id="29" name="TextBox 28"/>
          <p:cNvSpPr txBox="1"/>
          <p:nvPr/>
        </p:nvSpPr>
        <p:spPr>
          <a:xfrm>
            <a:off x="7571231" y="4590288"/>
            <a:ext cx="2514600" cy="868680"/>
          </a:xfrm>
          <a:prstGeom prst="rect">
            <a:avLst/>
          </a:prstGeom>
          <a:noFill/>
        </p:spPr>
        <p:txBody>
          <a:bodyPr wrap="square">
            <a:spAutoFit/>
          </a:bodyPr>
          <a:lstStyle/>
          <a:p>
            <a:pPr>
              <a:spcAft>
                <a:spcPts val="300"/>
              </a:spcAft>
              <a:defRPr sz="1000">
                <a:solidFill>
                  <a:srgbClr val="2D3436"/>
                </a:solidFill>
              </a:defRPr>
            </a:pPr>
            <a:r>
              <a:t>聚焦 PR 阶段质量控制</a:t>
            </a:r>
          </a:p>
          <a:p>
            <a:pPr>
              <a:spcAft>
                <a:spcPts val="300"/>
              </a:spcAft>
              <a:defRPr sz="1000">
                <a:solidFill>
                  <a:srgbClr val="2D3436"/>
                </a:solidFill>
              </a:defRPr>
            </a:pPr>
            <a:r>
              <a:t>自动识别高价值缺陷</a:t>
            </a:r>
          </a:p>
          <a:p>
            <a:pPr>
              <a:spcAft>
                <a:spcPts val="300"/>
              </a:spcAft>
              <a:defRPr sz="1000">
                <a:solidFill>
                  <a:srgbClr val="2D3436"/>
                </a:solidFill>
              </a:defRPr>
            </a:pPr>
            <a:r>
              <a:t>缓解评审瓶颈</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5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822960"/>
          </a:xfrm>
          <a:prstGeom prst="rect">
            <a:avLst/>
          </a:prstGeom>
          <a:noFill/>
        </p:spPr>
        <p:txBody>
          <a:bodyPr wrap="none">
            <a:spAutoFit/>
          </a:bodyPr>
          <a:lstStyle/>
          <a:p>
            <a:r>
              <a:rPr sz="2400" b="1">
                <a:solidFill>
                  <a:srgbClr val="152D4E"/>
                </a:solidFill>
              </a:rPr>
              <a:t>汇报建议</a:t>
            </a:r>
          </a:p>
        </p:txBody>
      </p:sp>
      <p:sp>
        <p:nvSpPr>
          <p:cNvPr id="4" name="TextBox 3"/>
          <p:cNvSpPr txBox="1"/>
          <p:nvPr/>
        </p:nvSpPr>
        <p:spPr>
          <a:xfrm>
            <a:off x="658368" y="1005840"/>
            <a:ext cx="10515600" cy="411480"/>
          </a:xfrm>
          <a:prstGeom prst="rect">
            <a:avLst/>
          </a:prstGeom>
          <a:noFill/>
        </p:spPr>
        <p:txBody>
          <a:bodyPr wrap="none">
            <a:spAutoFit/>
          </a:bodyPr>
          <a:lstStyle/>
          <a:p>
            <a:r>
              <a:rPr sz="1000">
                <a:solidFill>
                  <a:srgbClr val="606C76"/>
                </a:solidFill>
              </a:rPr>
              <a:t>如果用于内部汇报，可重点落在这 4 个判断</a:t>
            </a:r>
          </a:p>
        </p:txBody>
      </p:sp>
      <p:sp>
        <p:nvSpPr>
          <p:cNvPr id="5" name="TextBox 4"/>
          <p:cNvSpPr txBox="1"/>
          <p:nvPr/>
        </p:nvSpPr>
        <p:spPr>
          <a:xfrm>
            <a:off x="685800" y="6400800"/>
            <a:ext cx="10972800" cy="228600"/>
          </a:xfrm>
          <a:prstGeom prst="rect">
            <a:avLst/>
          </a:prstGeom>
          <a:noFill/>
        </p:spPr>
        <p:txBody>
          <a:bodyPr wrap="none">
            <a:spAutoFit/>
          </a:bodyPr>
          <a:lstStyle/>
          <a:p>
            <a:r>
              <a:rPr sz="800">
                <a:solidFill>
                  <a:srgbClr val="606C76"/>
                </a:solidFill>
              </a:rPr>
              <a:t>资料来源均来自公开官方报告、官方博客或官方客户案例</a:t>
            </a:r>
          </a:p>
        </p:txBody>
      </p:sp>
      <p:sp>
        <p:nvSpPr>
          <p:cNvPr id="6" name="TextBox 5"/>
          <p:cNvSpPr txBox="1"/>
          <p:nvPr/>
        </p:nvSpPr>
        <p:spPr>
          <a:xfrm>
            <a:off x="868680" y="1828800"/>
            <a:ext cx="10241280" cy="3291840"/>
          </a:xfrm>
          <a:prstGeom prst="rect">
            <a:avLst/>
          </a:prstGeom>
          <a:noFill/>
        </p:spPr>
        <p:txBody>
          <a:bodyPr wrap="square" lIns="0" rIns="0" tIns="0" bIns="0">
            <a:spAutoFit/>
          </a:bodyPr>
          <a:lstStyle/>
          <a:p>
            <a:pPr>
              <a:lnSpc>
                <a:spcPct val="115000"/>
              </a:lnSpc>
              <a:spcAft>
                <a:spcPts val="1000"/>
              </a:spcAft>
              <a:defRPr sz="2100">
                <a:solidFill>
                  <a:srgbClr val="2D3436"/>
                </a:solidFill>
              </a:defRPr>
            </a:pPr>
            <a:r>
              <a:t>第一，全球已经从“AI 辅助写代码”走向“AI 参与整个软件工程流程”。</a:t>
            </a:r>
          </a:p>
          <a:p>
            <a:pPr>
              <a:lnSpc>
                <a:spcPct val="115000"/>
              </a:lnSpc>
              <a:spcAft>
                <a:spcPts val="1000"/>
              </a:spcAft>
              <a:defRPr sz="2100">
                <a:solidFill>
                  <a:srgbClr val="2D3436"/>
                </a:solidFill>
              </a:defRPr>
            </a:pPr>
            <a:r>
              <a:t>第二，领先组织的优势不只在模型，而在上下文接入、自动验证和治理闭环。</a:t>
            </a:r>
          </a:p>
          <a:p>
            <a:pPr>
              <a:lnSpc>
                <a:spcPct val="115000"/>
              </a:lnSpc>
              <a:spcAft>
                <a:spcPts val="1000"/>
              </a:spcAft>
              <a:defRPr sz="2100">
                <a:solidFill>
                  <a:srgbClr val="2D3436"/>
                </a:solidFill>
              </a:defRPr>
            </a:pPr>
            <a:r>
              <a:t>第三，最容易先出 ROI 的不是最前沿代理，而是高频、重复、可验证任务。</a:t>
            </a:r>
          </a:p>
          <a:p>
            <a:pPr>
              <a:lnSpc>
                <a:spcPct val="115000"/>
              </a:lnSpc>
              <a:spcAft>
                <a:spcPts val="1000"/>
              </a:spcAft>
              <a:defRPr sz="2100">
                <a:solidFill>
                  <a:srgbClr val="2D3436"/>
                </a:solidFill>
              </a:defRPr>
            </a:pPr>
            <a:r>
              <a:t>第四，衡量 AI 成效的标准正在从“用了多少”转向“是否改善吞吐、质量和稳定性”。</a:t>
            </a:r>
          </a:p>
        </p:txBody>
      </p:sp>
      <p:sp>
        <p:nvSpPr>
          <p:cNvPr id="7" name="Rounded Rectangle 6"/>
          <p:cNvSpPr/>
          <p:nvPr/>
        </p:nvSpPr>
        <p:spPr>
          <a:xfrm>
            <a:off x="868680" y="5257800"/>
            <a:ext cx="10332720" cy="7772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440680"/>
            <a:ext cx="9875520" cy="411480"/>
          </a:xfrm>
          <a:prstGeom prst="rect">
            <a:avLst/>
          </a:prstGeom>
          <a:noFill/>
        </p:spPr>
        <p:txBody>
          <a:bodyPr wrap="square">
            <a:spAutoFit/>
          </a:bodyPr>
          <a:lstStyle/>
          <a:p>
            <a:pPr>
              <a:spcAft>
                <a:spcPts val="200"/>
              </a:spcAft>
              <a:defRPr sz="900">
                <a:solidFill>
                  <a:srgbClr val="606C76"/>
                </a:solidFill>
              </a:defRPr>
            </a:pPr>
            <a:r>
              <a:t>建议与文档配套使用：详细出处、工具、AI 使用过程、效果指标已写入研究文档。</a:t>
            </a:r>
          </a:p>
          <a:p>
            <a:pPr>
              <a:spcAft>
                <a:spcPts val="200"/>
              </a:spcAft>
              <a:defRPr sz="900">
                <a:solidFill>
                  <a:srgbClr val="606C76"/>
                </a:solidFill>
              </a:defRPr>
            </a:pPr>
            <a:r>
              <a:t>文档路径：/Users/a747/codex/全球AI提升软件工程开发效率调研报告_2026-04-20.md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76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822960"/>
          </a:xfrm>
          <a:prstGeom prst="rect">
            <a:avLst/>
          </a:prstGeom>
          <a:noFill/>
        </p:spPr>
        <p:txBody>
          <a:bodyPr wrap="none">
            <a:spAutoFit/>
          </a:bodyPr>
          <a:lstStyle/>
          <a:p>
            <a:r>
              <a:rPr sz="2400" b="1">
                <a:solidFill>
                  <a:srgbClr val="152D4E"/>
                </a:solidFill>
              </a:rPr>
              <a:t>详细案例 1</a:t>
            </a:r>
          </a:p>
        </p:txBody>
      </p:sp>
      <p:sp>
        <p:nvSpPr>
          <p:cNvPr id="4" name="TextBox 3"/>
          <p:cNvSpPr txBox="1"/>
          <p:nvPr/>
        </p:nvSpPr>
        <p:spPr>
          <a:xfrm>
            <a:off x="658368" y="1005840"/>
            <a:ext cx="10515600" cy="411480"/>
          </a:xfrm>
          <a:prstGeom prst="rect">
            <a:avLst/>
          </a:prstGeom>
          <a:noFill/>
        </p:spPr>
        <p:txBody>
          <a:bodyPr wrap="none">
            <a:spAutoFit/>
          </a:bodyPr>
          <a:lstStyle/>
          <a:p>
            <a:r>
              <a:rPr sz="1000">
                <a:solidFill>
                  <a:srgbClr val="606C76"/>
                </a:solidFill>
              </a:rPr>
              <a:t>Accenture：企业如何验证 Copilot 的真实收益</a:t>
            </a:r>
          </a:p>
        </p:txBody>
      </p:sp>
      <p:sp>
        <p:nvSpPr>
          <p:cNvPr id="5" name="TextBox 4"/>
          <p:cNvSpPr txBox="1"/>
          <p:nvPr/>
        </p:nvSpPr>
        <p:spPr>
          <a:xfrm>
            <a:off x="685800" y="6400800"/>
            <a:ext cx="10972800" cy="228600"/>
          </a:xfrm>
          <a:prstGeom prst="rect">
            <a:avLst/>
          </a:prstGeom>
          <a:noFill/>
        </p:spPr>
        <p:txBody>
          <a:bodyPr wrap="none">
            <a:spAutoFit/>
          </a:bodyPr>
          <a:lstStyle/>
          <a:p>
            <a:r>
              <a:rPr sz="800">
                <a:solidFill>
                  <a:srgbClr val="606C76"/>
                </a:solidFill>
              </a:rPr>
              <a:t>资料来源均来自公开官方报告、官方博客或官方客户案例</a:t>
            </a:r>
          </a:p>
        </p:txBody>
      </p:sp>
      <p:sp>
        <p:nvSpPr>
          <p:cNvPr id="6" name="Rounded Rectangle 5"/>
          <p:cNvSpPr/>
          <p:nvPr/>
        </p:nvSpPr>
        <p:spPr>
          <a:xfrm>
            <a:off x="731520" y="1508760"/>
            <a:ext cx="10698480" cy="502920"/>
          </a:xfrm>
          <a:prstGeom prst="roundRect">
            <a:avLst/>
          </a:prstGeom>
          <a:solidFill>
            <a:srgbClr val="15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9344"/>
            <a:ext cx="10058400" cy="274320"/>
          </a:xfrm>
          <a:prstGeom prst="rect">
            <a:avLst/>
          </a:prstGeom>
          <a:noFill/>
        </p:spPr>
        <p:txBody>
          <a:bodyPr wrap="none">
            <a:spAutoFit/>
          </a:bodyPr>
          <a:lstStyle/>
          <a:p>
            <a:pPr algn="ctr"/>
            <a:r>
              <a:rPr sz="1800" b="1">
                <a:solidFill>
                  <a:srgbClr val="FFFFFF"/>
                </a:solidFill>
              </a:rPr>
              <a:t>Accenture | 工具：GitHub Copilot</a:t>
            </a:r>
          </a:p>
        </p:txBody>
      </p:sp>
      <p:sp>
        <p:nvSpPr>
          <p:cNvPr id="8" name="Rounded Rectangle 7"/>
          <p:cNvSpPr/>
          <p:nvPr/>
        </p:nvSpPr>
        <p:spPr>
          <a:xfrm>
            <a:off x="731520" y="2148840"/>
            <a:ext cx="2743200" cy="15544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58568"/>
            <a:ext cx="2468880" cy="256032"/>
          </a:xfrm>
          <a:prstGeom prst="rect">
            <a:avLst/>
          </a:prstGeom>
          <a:noFill/>
        </p:spPr>
        <p:txBody>
          <a:bodyPr wrap="none">
            <a:spAutoFit/>
          </a:bodyPr>
          <a:lstStyle/>
          <a:p>
            <a:r>
              <a:rPr sz="1300" b="1">
                <a:solidFill>
                  <a:srgbClr val="CA712C"/>
                </a:solidFill>
              </a:rPr>
              <a:t>使用前</a:t>
            </a:r>
          </a:p>
        </p:txBody>
      </p:sp>
      <p:sp>
        <p:nvSpPr>
          <p:cNvPr id="10" name="TextBox 9"/>
          <p:cNvSpPr txBox="1"/>
          <p:nvPr/>
        </p:nvSpPr>
        <p:spPr>
          <a:xfrm>
            <a:off x="877824" y="2542032"/>
            <a:ext cx="2468880" cy="109728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企业需要先证明 AI 真能提升交付效率。</a:t>
            </a:r>
          </a:p>
          <a:p>
            <a:pPr>
              <a:lnSpc>
                <a:spcPct val="115000"/>
              </a:lnSpc>
              <a:spcAft>
                <a:spcPts val="1000"/>
              </a:spcAft>
              <a:defRPr sz="1000">
                <a:solidFill>
                  <a:srgbClr val="2D3436"/>
                </a:solidFill>
              </a:defRPr>
            </a:pPr>
            <a:r>
              <a:t>推广前缺少可量化的企业级证据。</a:t>
            </a:r>
          </a:p>
        </p:txBody>
      </p:sp>
      <p:sp>
        <p:nvSpPr>
          <p:cNvPr id="11" name="Rounded Rectangle 10"/>
          <p:cNvSpPr/>
          <p:nvPr/>
        </p:nvSpPr>
        <p:spPr>
          <a:xfrm>
            <a:off x="3794760" y="2148840"/>
            <a:ext cx="4480560" cy="15544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41064" y="2258568"/>
            <a:ext cx="4206240" cy="256032"/>
          </a:xfrm>
          <a:prstGeom prst="rect">
            <a:avLst/>
          </a:prstGeom>
          <a:noFill/>
        </p:spPr>
        <p:txBody>
          <a:bodyPr wrap="none">
            <a:spAutoFit/>
          </a:bodyPr>
          <a:lstStyle/>
          <a:p>
            <a:r>
              <a:rPr sz="1300" b="1">
                <a:solidFill>
                  <a:srgbClr val="276E78"/>
                </a:solidFill>
              </a:rPr>
              <a:t>使用过程</a:t>
            </a:r>
          </a:p>
        </p:txBody>
      </p:sp>
      <p:sp>
        <p:nvSpPr>
          <p:cNvPr id="13" name="TextBox 12"/>
          <p:cNvSpPr txBox="1"/>
          <p:nvPr/>
        </p:nvSpPr>
        <p:spPr>
          <a:xfrm>
            <a:off x="3941064" y="2542032"/>
            <a:ext cx="4206240" cy="109728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先用 20 人试点，再做随机对照试验。</a:t>
            </a:r>
          </a:p>
          <a:p>
            <a:pPr>
              <a:lnSpc>
                <a:spcPct val="115000"/>
              </a:lnSpc>
              <a:spcAft>
                <a:spcPts val="1000"/>
              </a:spcAft>
              <a:defRPr sz="1000">
                <a:solidFill>
                  <a:srgbClr val="2D3436"/>
                </a:solidFill>
              </a:defRPr>
            </a:pPr>
            <a:r>
              <a:t>450 名使用者对比 200 名未使用者。</a:t>
            </a:r>
          </a:p>
          <a:p>
            <a:pPr>
              <a:lnSpc>
                <a:spcPct val="115000"/>
              </a:lnSpc>
              <a:spcAft>
                <a:spcPts val="1000"/>
              </a:spcAft>
              <a:defRPr sz="1000">
                <a:solidFill>
                  <a:srgbClr val="2D3436"/>
                </a:solidFill>
              </a:defRPr>
            </a:pPr>
            <a:r>
              <a:t>发放许可证并安装 IDE 扩展。</a:t>
            </a:r>
          </a:p>
          <a:p>
            <a:pPr>
              <a:lnSpc>
                <a:spcPct val="115000"/>
              </a:lnSpc>
              <a:spcAft>
                <a:spcPts val="1000"/>
              </a:spcAft>
              <a:defRPr sz="1000">
                <a:solidFill>
                  <a:srgbClr val="2D3436"/>
                </a:solidFill>
              </a:defRPr>
            </a:pPr>
            <a:r>
              <a:t>跟踪接受率、提交、PR 与构建指标。</a:t>
            </a:r>
          </a:p>
        </p:txBody>
      </p:sp>
      <p:sp>
        <p:nvSpPr>
          <p:cNvPr id="14" name="Rounded Rectangle 13"/>
          <p:cNvSpPr/>
          <p:nvPr/>
        </p:nvSpPr>
        <p:spPr>
          <a:xfrm>
            <a:off x="8549640" y="2148840"/>
            <a:ext cx="2834640" cy="15544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95944" y="2258568"/>
            <a:ext cx="2560320" cy="256032"/>
          </a:xfrm>
          <a:prstGeom prst="rect">
            <a:avLst/>
          </a:prstGeom>
          <a:noFill/>
        </p:spPr>
        <p:txBody>
          <a:bodyPr wrap="none">
            <a:spAutoFit/>
          </a:bodyPr>
          <a:lstStyle/>
          <a:p>
            <a:r>
              <a:rPr sz="1300" b="1">
                <a:solidFill>
                  <a:srgbClr val="152D4E"/>
                </a:solidFill>
              </a:rPr>
              <a:t>使用后对比</a:t>
            </a:r>
          </a:p>
        </p:txBody>
      </p:sp>
      <p:sp>
        <p:nvSpPr>
          <p:cNvPr id="16" name="TextBox 15"/>
          <p:cNvSpPr txBox="1"/>
          <p:nvPr/>
        </p:nvSpPr>
        <p:spPr>
          <a:xfrm>
            <a:off x="8695944" y="2542032"/>
            <a:ext cx="2560320" cy="109728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67% 每周至少使用 5 天。</a:t>
            </a:r>
          </a:p>
          <a:p>
            <a:pPr>
              <a:lnSpc>
                <a:spcPct val="115000"/>
              </a:lnSpc>
              <a:spcAft>
                <a:spcPts val="1000"/>
              </a:spcAft>
              <a:defRPr sz="1000">
                <a:solidFill>
                  <a:srgbClr val="2D3436"/>
                </a:solidFill>
              </a:defRPr>
            </a:pPr>
            <a:r>
              <a:t>30% 建议被接受。</a:t>
            </a:r>
          </a:p>
          <a:p>
            <a:pPr>
              <a:lnSpc>
                <a:spcPct val="115000"/>
              </a:lnSpc>
              <a:spcAft>
                <a:spcPts val="1000"/>
              </a:spcAft>
              <a:defRPr sz="1000">
                <a:solidFill>
                  <a:srgbClr val="2D3436"/>
                </a:solidFill>
              </a:defRPr>
            </a:pPr>
            <a:r>
              <a:t>90% 提交过含 AI 代码的提交。</a:t>
            </a:r>
          </a:p>
          <a:p>
            <a:pPr>
              <a:lnSpc>
                <a:spcPct val="115000"/>
              </a:lnSpc>
              <a:spcAft>
                <a:spcPts val="1000"/>
              </a:spcAft>
              <a:defRPr sz="1000">
                <a:solidFill>
                  <a:srgbClr val="2D3436"/>
                </a:solidFill>
              </a:defRPr>
            </a:pPr>
            <a:r>
              <a:t>91% 团队合并过含 AI 代码的 PR。</a:t>
            </a:r>
          </a:p>
        </p:txBody>
      </p:sp>
      <p:sp>
        <p:nvSpPr>
          <p:cNvPr id="17" name="Rounded Rectangle 16"/>
          <p:cNvSpPr/>
          <p:nvPr/>
        </p:nvSpPr>
        <p:spPr>
          <a:xfrm>
            <a:off x="731520" y="3977639"/>
            <a:ext cx="5303520" cy="160020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4087368"/>
            <a:ext cx="5029200" cy="256032"/>
          </a:xfrm>
          <a:prstGeom prst="rect">
            <a:avLst/>
          </a:prstGeom>
          <a:noFill/>
        </p:spPr>
        <p:txBody>
          <a:bodyPr wrap="none">
            <a:spAutoFit/>
          </a:bodyPr>
          <a:lstStyle/>
          <a:p>
            <a:r>
              <a:rPr sz="1300" b="1">
                <a:solidFill>
                  <a:srgbClr val="276E78"/>
                </a:solidFill>
              </a:rPr>
              <a:t>证明了什么</a:t>
            </a:r>
          </a:p>
        </p:txBody>
      </p:sp>
      <p:sp>
        <p:nvSpPr>
          <p:cNvPr id="19" name="TextBox 18"/>
          <p:cNvSpPr txBox="1"/>
          <p:nvPr/>
        </p:nvSpPr>
        <p:spPr>
          <a:xfrm>
            <a:off x="877824" y="4370831"/>
            <a:ext cx="5029200" cy="114300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Copilot 最适合作为现有开发流上的增效层。</a:t>
            </a:r>
          </a:p>
          <a:p>
            <a:pPr>
              <a:lnSpc>
                <a:spcPct val="115000"/>
              </a:lnSpc>
              <a:spcAft>
                <a:spcPts val="1000"/>
              </a:spcAft>
              <a:defRPr sz="1000">
                <a:solidFill>
                  <a:srgbClr val="2D3436"/>
                </a:solidFill>
              </a:defRPr>
            </a:pPr>
            <a:r>
              <a:t>企业完全可以用工程指标而非主观感受评估 AI。</a:t>
            </a:r>
          </a:p>
        </p:txBody>
      </p:sp>
      <p:sp>
        <p:nvSpPr>
          <p:cNvPr id="20" name="Rounded Rectangle 19"/>
          <p:cNvSpPr/>
          <p:nvPr/>
        </p:nvSpPr>
        <p:spPr>
          <a:xfrm>
            <a:off x="6309360" y="3977639"/>
            <a:ext cx="5074920" cy="160020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5664" y="4087368"/>
            <a:ext cx="4800600" cy="256032"/>
          </a:xfrm>
          <a:prstGeom prst="rect">
            <a:avLst/>
          </a:prstGeom>
          <a:noFill/>
        </p:spPr>
        <p:txBody>
          <a:bodyPr wrap="none">
            <a:spAutoFit/>
          </a:bodyPr>
          <a:lstStyle/>
          <a:p>
            <a:r>
              <a:rPr sz="1300" b="1">
                <a:solidFill>
                  <a:srgbClr val="CA712C"/>
                </a:solidFill>
              </a:rPr>
              <a:t>怎么借鉴</a:t>
            </a:r>
          </a:p>
        </p:txBody>
      </p:sp>
      <p:sp>
        <p:nvSpPr>
          <p:cNvPr id="22" name="TextBox 21"/>
          <p:cNvSpPr txBox="1"/>
          <p:nvPr/>
        </p:nvSpPr>
        <p:spPr>
          <a:xfrm>
            <a:off x="6455664" y="4370831"/>
            <a:ext cx="4800600" cy="114300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先做小规模试点，不直接全量推广。</a:t>
            </a:r>
          </a:p>
          <a:p>
            <a:pPr>
              <a:lnSpc>
                <a:spcPct val="115000"/>
              </a:lnSpc>
              <a:spcAft>
                <a:spcPts val="1000"/>
              </a:spcAft>
              <a:defRPr sz="1000">
                <a:solidFill>
                  <a:srgbClr val="2D3436"/>
                </a:solidFill>
              </a:defRPr>
            </a:pPr>
            <a:r>
              <a:t>指标优先看安装率、活跃率、接受率、PR 周转。</a:t>
            </a:r>
          </a:p>
        </p:txBody>
      </p:sp>
      <p:sp>
        <p:nvSpPr>
          <p:cNvPr id="23" name="Rounded Rectangle 22"/>
          <p:cNvSpPr/>
          <p:nvPr/>
        </p:nvSpPr>
        <p:spPr>
          <a:xfrm>
            <a:off x="868680" y="5257800"/>
            <a:ext cx="10332720" cy="7772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440680"/>
            <a:ext cx="9875520" cy="411480"/>
          </a:xfrm>
          <a:prstGeom prst="rect">
            <a:avLst/>
          </a:prstGeom>
          <a:noFill/>
        </p:spPr>
        <p:txBody>
          <a:bodyPr wrap="square">
            <a:spAutoFit/>
          </a:bodyPr>
          <a:lstStyle/>
          <a:p>
            <a:pPr>
              <a:spcAft>
                <a:spcPts val="200"/>
              </a:spcAft>
              <a:defRPr sz="900">
                <a:solidFill>
                  <a:srgbClr val="606C76"/>
                </a:solidFill>
              </a:defRPr>
            </a:pPr>
            <a:r>
              <a:t>来源：GitHub 官方研究与 GitHub Customer Story（Accenture）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CA71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822960"/>
          </a:xfrm>
          <a:prstGeom prst="rect">
            <a:avLst/>
          </a:prstGeom>
          <a:noFill/>
        </p:spPr>
        <p:txBody>
          <a:bodyPr wrap="none">
            <a:spAutoFit/>
          </a:bodyPr>
          <a:lstStyle/>
          <a:p>
            <a:r>
              <a:rPr sz="2400" b="1">
                <a:solidFill>
                  <a:srgbClr val="152D4E"/>
                </a:solidFill>
              </a:rPr>
              <a:t>详细案例 2</a:t>
            </a:r>
          </a:p>
        </p:txBody>
      </p:sp>
      <p:sp>
        <p:nvSpPr>
          <p:cNvPr id="4" name="TextBox 3"/>
          <p:cNvSpPr txBox="1"/>
          <p:nvPr/>
        </p:nvSpPr>
        <p:spPr>
          <a:xfrm>
            <a:off x="658368" y="1005840"/>
            <a:ext cx="10515600" cy="411480"/>
          </a:xfrm>
          <a:prstGeom prst="rect">
            <a:avLst/>
          </a:prstGeom>
          <a:noFill/>
        </p:spPr>
        <p:txBody>
          <a:bodyPr wrap="none">
            <a:spAutoFit/>
          </a:bodyPr>
          <a:lstStyle/>
          <a:p>
            <a:r>
              <a:rPr sz="1000">
                <a:solidFill>
                  <a:srgbClr val="606C76"/>
                </a:solidFill>
              </a:rPr>
              <a:t>Carlsberg：先统一平台，再让 AI 真正起效</a:t>
            </a:r>
          </a:p>
        </p:txBody>
      </p:sp>
      <p:sp>
        <p:nvSpPr>
          <p:cNvPr id="5" name="TextBox 4"/>
          <p:cNvSpPr txBox="1"/>
          <p:nvPr/>
        </p:nvSpPr>
        <p:spPr>
          <a:xfrm>
            <a:off x="685800" y="6400800"/>
            <a:ext cx="10972800" cy="228600"/>
          </a:xfrm>
          <a:prstGeom prst="rect">
            <a:avLst/>
          </a:prstGeom>
          <a:noFill/>
        </p:spPr>
        <p:txBody>
          <a:bodyPr wrap="none">
            <a:spAutoFit/>
          </a:bodyPr>
          <a:lstStyle/>
          <a:p>
            <a:r>
              <a:rPr sz="800">
                <a:solidFill>
                  <a:srgbClr val="606C76"/>
                </a:solidFill>
              </a:rPr>
              <a:t>资料来源均来自公开官方报告、官方博客或官方客户案例</a:t>
            </a:r>
          </a:p>
        </p:txBody>
      </p:sp>
      <p:sp>
        <p:nvSpPr>
          <p:cNvPr id="6" name="Rounded Rectangle 5"/>
          <p:cNvSpPr/>
          <p:nvPr/>
        </p:nvSpPr>
        <p:spPr>
          <a:xfrm>
            <a:off x="731520" y="1508760"/>
            <a:ext cx="10698480" cy="502920"/>
          </a:xfrm>
          <a:prstGeom prst="roundRect">
            <a:avLst/>
          </a:prstGeom>
          <a:solidFill>
            <a:srgbClr val="15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9344"/>
            <a:ext cx="10058400" cy="274320"/>
          </a:xfrm>
          <a:prstGeom prst="rect">
            <a:avLst/>
          </a:prstGeom>
          <a:noFill/>
        </p:spPr>
        <p:txBody>
          <a:bodyPr wrap="none">
            <a:spAutoFit/>
          </a:bodyPr>
          <a:lstStyle/>
          <a:p>
            <a:pPr algn="ctr"/>
            <a:r>
              <a:rPr sz="1800" b="1">
                <a:solidFill>
                  <a:srgbClr val="FFFFFF"/>
                </a:solidFill>
              </a:rPr>
              <a:t>Carlsberg | 工具：Copilot + GHAS + Actions</a:t>
            </a:r>
          </a:p>
        </p:txBody>
      </p:sp>
      <p:sp>
        <p:nvSpPr>
          <p:cNvPr id="8" name="Rounded Rectangle 7"/>
          <p:cNvSpPr/>
          <p:nvPr/>
        </p:nvSpPr>
        <p:spPr>
          <a:xfrm>
            <a:off x="731520" y="2148840"/>
            <a:ext cx="2743200" cy="15544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58568"/>
            <a:ext cx="2468880" cy="256032"/>
          </a:xfrm>
          <a:prstGeom prst="rect">
            <a:avLst/>
          </a:prstGeom>
          <a:noFill/>
        </p:spPr>
        <p:txBody>
          <a:bodyPr wrap="none">
            <a:spAutoFit/>
          </a:bodyPr>
          <a:lstStyle/>
          <a:p>
            <a:r>
              <a:rPr sz="1300" b="1">
                <a:solidFill>
                  <a:srgbClr val="CA712C"/>
                </a:solidFill>
              </a:rPr>
              <a:t>使用前</a:t>
            </a:r>
          </a:p>
        </p:txBody>
      </p:sp>
      <p:sp>
        <p:nvSpPr>
          <p:cNvPr id="10" name="TextBox 9"/>
          <p:cNvSpPr txBox="1"/>
          <p:nvPr/>
        </p:nvSpPr>
        <p:spPr>
          <a:xfrm>
            <a:off x="877824" y="2542032"/>
            <a:ext cx="2468880" cy="109728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研发流程分散在 6 套工具中。</a:t>
            </a:r>
          </a:p>
          <a:p>
            <a:pPr>
              <a:lnSpc>
                <a:spcPct val="115000"/>
              </a:lnSpc>
              <a:spcAft>
                <a:spcPts val="1000"/>
              </a:spcAft>
              <a:defRPr sz="1000">
                <a:solidFill>
                  <a:srgbClr val="2D3436"/>
                </a:solidFill>
              </a:defRPr>
            </a:pPr>
            <a:r>
              <a:t>上下文切换频繁，源码中有未识别 secrets。</a:t>
            </a:r>
          </a:p>
        </p:txBody>
      </p:sp>
      <p:sp>
        <p:nvSpPr>
          <p:cNvPr id="11" name="Rounded Rectangle 10"/>
          <p:cNvSpPr/>
          <p:nvPr/>
        </p:nvSpPr>
        <p:spPr>
          <a:xfrm>
            <a:off x="3794760" y="2148840"/>
            <a:ext cx="4480560" cy="15544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41064" y="2258568"/>
            <a:ext cx="4206240" cy="256032"/>
          </a:xfrm>
          <a:prstGeom prst="rect">
            <a:avLst/>
          </a:prstGeom>
          <a:noFill/>
        </p:spPr>
        <p:txBody>
          <a:bodyPr wrap="none">
            <a:spAutoFit/>
          </a:bodyPr>
          <a:lstStyle/>
          <a:p>
            <a:r>
              <a:rPr sz="1300" b="1">
                <a:solidFill>
                  <a:srgbClr val="276E78"/>
                </a:solidFill>
              </a:rPr>
              <a:t>使用过程</a:t>
            </a:r>
          </a:p>
        </p:txBody>
      </p:sp>
      <p:sp>
        <p:nvSpPr>
          <p:cNvPr id="13" name="TextBox 12"/>
          <p:cNvSpPr txBox="1"/>
          <p:nvPr/>
        </p:nvSpPr>
        <p:spPr>
          <a:xfrm>
            <a:off x="3941064" y="2542032"/>
            <a:ext cx="4206240" cy="109728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先统一到 GitHub Enterprise。</a:t>
            </a:r>
          </a:p>
          <a:p>
            <a:pPr>
              <a:lnSpc>
                <a:spcPct val="115000"/>
              </a:lnSpc>
              <a:spcAft>
                <a:spcPts val="1000"/>
              </a:spcAft>
              <a:defRPr sz="1000">
                <a:solidFill>
                  <a:srgbClr val="2D3436"/>
                </a:solidFill>
              </a:defRPr>
            </a:pPr>
            <a:r>
              <a:t>再接入 Copilot、GHAS、Secret Scanning 和 Actions。</a:t>
            </a:r>
          </a:p>
          <a:p>
            <a:pPr>
              <a:lnSpc>
                <a:spcPct val="115000"/>
              </a:lnSpc>
              <a:spcAft>
                <a:spcPts val="1000"/>
              </a:spcAft>
              <a:defRPr sz="1000">
                <a:solidFill>
                  <a:srgbClr val="2D3436"/>
                </a:solidFill>
              </a:defRPr>
            </a:pPr>
            <a:r>
              <a:t>让生成代码继续经过扫描、CI 和合并控制。</a:t>
            </a:r>
          </a:p>
        </p:txBody>
      </p:sp>
      <p:sp>
        <p:nvSpPr>
          <p:cNvPr id="14" name="Rounded Rectangle 13"/>
          <p:cNvSpPr/>
          <p:nvPr/>
        </p:nvSpPr>
        <p:spPr>
          <a:xfrm>
            <a:off x="8549640" y="2148840"/>
            <a:ext cx="2834640" cy="15544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95944" y="2258568"/>
            <a:ext cx="2560320" cy="256032"/>
          </a:xfrm>
          <a:prstGeom prst="rect">
            <a:avLst/>
          </a:prstGeom>
          <a:noFill/>
        </p:spPr>
        <p:txBody>
          <a:bodyPr wrap="none">
            <a:spAutoFit/>
          </a:bodyPr>
          <a:lstStyle/>
          <a:p>
            <a:r>
              <a:rPr sz="1300" b="1">
                <a:solidFill>
                  <a:srgbClr val="152D4E"/>
                </a:solidFill>
              </a:rPr>
              <a:t>使用后对比</a:t>
            </a:r>
          </a:p>
        </p:txBody>
      </p:sp>
      <p:sp>
        <p:nvSpPr>
          <p:cNvPr id="16" name="TextBox 15"/>
          <p:cNvSpPr txBox="1"/>
          <p:nvPr/>
        </p:nvSpPr>
        <p:spPr>
          <a:xfrm>
            <a:off x="8695944" y="2542032"/>
            <a:ext cx="2560320" cy="109728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6 套工具收敛到 1 个统一平台。</a:t>
            </a:r>
          </a:p>
          <a:p>
            <a:pPr>
              <a:lnSpc>
                <a:spcPct val="115000"/>
              </a:lnSpc>
              <a:spcAft>
                <a:spcPts val="1000"/>
              </a:spcAft>
              <a:defRPr sz="1000">
                <a:solidFill>
                  <a:srgbClr val="2D3436"/>
                </a:solidFill>
              </a:defRPr>
            </a:pPr>
            <a:r>
              <a:t>发现约 600 个未知 secrets。</a:t>
            </a:r>
          </a:p>
          <a:p>
            <a:pPr>
              <a:lnSpc>
                <a:spcPct val="115000"/>
              </a:lnSpc>
              <a:spcAft>
                <a:spcPts val="1000"/>
              </a:spcAft>
              <a:defRPr sz="1000">
                <a:solidFill>
                  <a:srgbClr val="2D3436"/>
                </a:solidFill>
              </a:defRPr>
            </a:pPr>
            <a:r>
              <a:t>移除 30,000+ 安全漏洞。</a:t>
            </a:r>
          </a:p>
        </p:txBody>
      </p:sp>
      <p:sp>
        <p:nvSpPr>
          <p:cNvPr id="17" name="Rounded Rectangle 16"/>
          <p:cNvSpPr/>
          <p:nvPr/>
        </p:nvSpPr>
        <p:spPr>
          <a:xfrm>
            <a:off x="731520" y="3977639"/>
            <a:ext cx="5303520" cy="160020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4087368"/>
            <a:ext cx="5029200" cy="256032"/>
          </a:xfrm>
          <a:prstGeom prst="rect">
            <a:avLst/>
          </a:prstGeom>
          <a:noFill/>
        </p:spPr>
        <p:txBody>
          <a:bodyPr wrap="none">
            <a:spAutoFit/>
          </a:bodyPr>
          <a:lstStyle/>
          <a:p>
            <a:r>
              <a:rPr sz="1300" b="1">
                <a:solidFill>
                  <a:srgbClr val="276E78"/>
                </a:solidFill>
              </a:rPr>
              <a:t>证明了什么</a:t>
            </a:r>
          </a:p>
        </p:txBody>
      </p:sp>
      <p:sp>
        <p:nvSpPr>
          <p:cNvPr id="19" name="TextBox 18"/>
          <p:cNvSpPr txBox="1"/>
          <p:nvPr/>
        </p:nvSpPr>
        <p:spPr>
          <a:xfrm>
            <a:off x="877824" y="4370831"/>
            <a:ext cx="5029200" cy="114300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AI 收益往往依赖统一平台与安全护栏。</a:t>
            </a:r>
          </a:p>
          <a:p>
            <a:pPr>
              <a:lnSpc>
                <a:spcPct val="115000"/>
              </a:lnSpc>
              <a:spcAft>
                <a:spcPts val="1000"/>
              </a:spcAft>
              <a:defRPr sz="1000">
                <a:solidFill>
                  <a:srgbClr val="2D3436"/>
                </a:solidFill>
              </a:defRPr>
            </a:pPr>
            <a:r>
              <a:t>减少上下文切换本身就是效率收益来源。</a:t>
            </a:r>
          </a:p>
        </p:txBody>
      </p:sp>
      <p:sp>
        <p:nvSpPr>
          <p:cNvPr id="20" name="Rounded Rectangle 19"/>
          <p:cNvSpPr/>
          <p:nvPr/>
        </p:nvSpPr>
        <p:spPr>
          <a:xfrm>
            <a:off x="6309360" y="3977639"/>
            <a:ext cx="5074920" cy="160020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5664" y="4087368"/>
            <a:ext cx="4800600" cy="256032"/>
          </a:xfrm>
          <a:prstGeom prst="rect">
            <a:avLst/>
          </a:prstGeom>
          <a:noFill/>
        </p:spPr>
        <p:txBody>
          <a:bodyPr wrap="none">
            <a:spAutoFit/>
          </a:bodyPr>
          <a:lstStyle/>
          <a:p>
            <a:r>
              <a:rPr sz="1300" b="1">
                <a:solidFill>
                  <a:srgbClr val="CA712C"/>
                </a:solidFill>
              </a:rPr>
              <a:t>怎么借鉴</a:t>
            </a:r>
          </a:p>
        </p:txBody>
      </p:sp>
      <p:sp>
        <p:nvSpPr>
          <p:cNvPr id="22" name="TextBox 21"/>
          <p:cNvSpPr txBox="1"/>
          <p:nvPr/>
        </p:nvSpPr>
        <p:spPr>
          <a:xfrm>
            <a:off x="6455664" y="4370831"/>
            <a:ext cx="4800600" cy="114300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工具分散的团队先做平台整合。</a:t>
            </a:r>
          </a:p>
          <a:p>
            <a:pPr>
              <a:lnSpc>
                <a:spcPct val="115000"/>
              </a:lnSpc>
              <a:spcAft>
                <a:spcPts val="1000"/>
              </a:spcAft>
              <a:defRPr sz="1000">
                <a:solidFill>
                  <a:srgbClr val="2D3436"/>
                </a:solidFill>
              </a:defRPr>
            </a:pPr>
            <a:r>
              <a:t>AI 工具和安全、CI 一起上，而不是单独上。</a:t>
            </a:r>
          </a:p>
        </p:txBody>
      </p:sp>
      <p:sp>
        <p:nvSpPr>
          <p:cNvPr id="23" name="Rounded Rectangle 22"/>
          <p:cNvSpPr/>
          <p:nvPr/>
        </p:nvSpPr>
        <p:spPr>
          <a:xfrm>
            <a:off x="868680" y="5257800"/>
            <a:ext cx="10332720" cy="7772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440680"/>
            <a:ext cx="9875520" cy="411480"/>
          </a:xfrm>
          <a:prstGeom prst="rect">
            <a:avLst/>
          </a:prstGeom>
          <a:noFill/>
        </p:spPr>
        <p:txBody>
          <a:bodyPr wrap="square">
            <a:spAutoFit/>
          </a:bodyPr>
          <a:lstStyle/>
          <a:p>
            <a:pPr>
              <a:spcAft>
                <a:spcPts val="200"/>
              </a:spcAft>
              <a:defRPr sz="900">
                <a:solidFill>
                  <a:srgbClr val="606C76"/>
                </a:solidFill>
              </a:defRPr>
            </a:pPr>
            <a:r>
              <a:t>来源：GitHub Customer Story（Carlsberg Group）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76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822960"/>
          </a:xfrm>
          <a:prstGeom prst="rect">
            <a:avLst/>
          </a:prstGeom>
          <a:noFill/>
        </p:spPr>
        <p:txBody>
          <a:bodyPr wrap="none">
            <a:spAutoFit/>
          </a:bodyPr>
          <a:lstStyle/>
          <a:p>
            <a:r>
              <a:rPr sz="2400" b="1">
                <a:solidFill>
                  <a:srgbClr val="152D4E"/>
                </a:solidFill>
              </a:rPr>
              <a:t>详细案例 3</a:t>
            </a:r>
          </a:p>
        </p:txBody>
      </p:sp>
      <p:sp>
        <p:nvSpPr>
          <p:cNvPr id="4" name="TextBox 3"/>
          <p:cNvSpPr txBox="1"/>
          <p:nvPr/>
        </p:nvSpPr>
        <p:spPr>
          <a:xfrm>
            <a:off x="658368" y="1005840"/>
            <a:ext cx="10515600" cy="411480"/>
          </a:xfrm>
          <a:prstGeom prst="rect">
            <a:avLst/>
          </a:prstGeom>
          <a:noFill/>
        </p:spPr>
        <p:txBody>
          <a:bodyPr wrap="none">
            <a:spAutoFit/>
          </a:bodyPr>
          <a:lstStyle/>
          <a:p>
            <a:r>
              <a:rPr sz="1000">
                <a:solidFill>
                  <a:srgbClr val="606C76"/>
                </a:solidFill>
              </a:rPr>
              <a:t>Dun &amp; Bradstreet：在高安全要求下落地 AI 开发</a:t>
            </a:r>
          </a:p>
        </p:txBody>
      </p:sp>
      <p:sp>
        <p:nvSpPr>
          <p:cNvPr id="5" name="TextBox 4"/>
          <p:cNvSpPr txBox="1"/>
          <p:nvPr/>
        </p:nvSpPr>
        <p:spPr>
          <a:xfrm>
            <a:off x="685800" y="6400800"/>
            <a:ext cx="10972800" cy="228600"/>
          </a:xfrm>
          <a:prstGeom prst="rect">
            <a:avLst/>
          </a:prstGeom>
          <a:noFill/>
        </p:spPr>
        <p:txBody>
          <a:bodyPr wrap="none">
            <a:spAutoFit/>
          </a:bodyPr>
          <a:lstStyle/>
          <a:p>
            <a:r>
              <a:rPr sz="800">
                <a:solidFill>
                  <a:srgbClr val="606C76"/>
                </a:solidFill>
              </a:rPr>
              <a:t>资料来源均来自公开官方报告、官方博客或官方客户案例</a:t>
            </a:r>
          </a:p>
        </p:txBody>
      </p:sp>
      <p:sp>
        <p:nvSpPr>
          <p:cNvPr id="6" name="Rounded Rectangle 5"/>
          <p:cNvSpPr/>
          <p:nvPr/>
        </p:nvSpPr>
        <p:spPr>
          <a:xfrm>
            <a:off x="731520" y="1508760"/>
            <a:ext cx="10698480" cy="502920"/>
          </a:xfrm>
          <a:prstGeom prst="roundRect">
            <a:avLst/>
          </a:prstGeom>
          <a:solidFill>
            <a:srgbClr val="15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9344"/>
            <a:ext cx="10058400" cy="274320"/>
          </a:xfrm>
          <a:prstGeom prst="rect">
            <a:avLst/>
          </a:prstGeom>
          <a:noFill/>
        </p:spPr>
        <p:txBody>
          <a:bodyPr wrap="none">
            <a:spAutoFit/>
          </a:bodyPr>
          <a:lstStyle/>
          <a:p>
            <a:pPr algn="ctr"/>
            <a:r>
              <a:rPr sz="1800" b="1">
                <a:solidFill>
                  <a:srgbClr val="FFFFFF"/>
                </a:solidFill>
              </a:rPr>
              <a:t>Dun &amp; Bradstreet | 工具：Gemini Code Assist</a:t>
            </a:r>
          </a:p>
        </p:txBody>
      </p:sp>
      <p:sp>
        <p:nvSpPr>
          <p:cNvPr id="8" name="Rounded Rectangle 7"/>
          <p:cNvSpPr/>
          <p:nvPr/>
        </p:nvSpPr>
        <p:spPr>
          <a:xfrm>
            <a:off x="731520" y="2148840"/>
            <a:ext cx="2743200" cy="15544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58568"/>
            <a:ext cx="2468880" cy="256032"/>
          </a:xfrm>
          <a:prstGeom prst="rect">
            <a:avLst/>
          </a:prstGeom>
          <a:noFill/>
        </p:spPr>
        <p:txBody>
          <a:bodyPr wrap="none">
            <a:spAutoFit/>
          </a:bodyPr>
          <a:lstStyle/>
          <a:p>
            <a:r>
              <a:rPr sz="1300" b="1">
                <a:solidFill>
                  <a:srgbClr val="CA712C"/>
                </a:solidFill>
              </a:rPr>
              <a:t>使用前</a:t>
            </a:r>
          </a:p>
        </p:txBody>
      </p:sp>
      <p:sp>
        <p:nvSpPr>
          <p:cNvPr id="10" name="TextBox 9"/>
          <p:cNvSpPr txBox="1"/>
          <p:nvPr/>
        </p:nvSpPr>
        <p:spPr>
          <a:xfrm>
            <a:off x="877824" y="2542032"/>
            <a:ext cx="2468880" cy="109728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onboarding 慢，遗留知识孤岛明显。</a:t>
            </a:r>
          </a:p>
          <a:p>
            <a:pPr>
              <a:lnSpc>
                <a:spcPct val="115000"/>
              </a:lnSpc>
              <a:spcAft>
                <a:spcPts val="1000"/>
              </a:spcAft>
              <a:defRPr sz="1000">
                <a:solidFill>
                  <a:srgbClr val="2D3436"/>
                </a:solidFill>
              </a:defRPr>
            </a:pPr>
            <a:r>
              <a:t>测试覆盖低，现代化改造困难。</a:t>
            </a:r>
          </a:p>
        </p:txBody>
      </p:sp>
      <p:sp>
        <p:nvSpPr>
          <p:cNvPr id="11" name="Rounded Rectangle 10"/>
          <p:cNvSpPr/>
          <p:nvPr/>
        </p:nvSpPr>
        <p:spPr>
          <a:xfrm>
            <a:off x="3794760" y="2148840"/>
            <a:ext cx="4480560" cy="15544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41064" y="2258568"/>
            <a:ext cx="4206240" cy="256032"/>
          </a:xfrm>
          <a:prstGeom prst="rect">
            <a:avLst/>
          </a:prstGeom>
          <a:noFill/>
        </p:spPr>
        <p:txBody>
          <a:bodyPr wrap="none">
            <a:spAutoFit/>
          </a:bodyPr>
          <a:lstStyle/>
          <a:p>
            <a:r>
              <a:rPr sz="1300" b="1">
                <a:solidFill>
                  <a:srgbClr val="276E78"/>
                </a:solidFill>
              </a:rPr>
              <a:t>使用过程</a:t>
            </a:r>
          </a:p>
        </p:txBody>
      </p:sp>
      <p:sp>
        <p:nvSpPr>
          <p:cNvPr id="13" name="TextBox 12"/>
          <p:cNvSpPr txBox="1"/>
          <p:nvPr/>
        </p:nvSpPr>
        <p:spPr>
          <a:xfrm>
            <a:off x="3941064" y="2542032"/>
            <a:ext cx="4206240" cy="109728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把 AI 引入定义为 people/process/tools 联动改造。</a:t>
            </a:r>
          </a:p>
          <a:p>
            <a:pPr>
              <a:lnSpc>
                <a:spcPct val="115000"/>
              </a:lnSpc>
              <a:spcAft>
                <a:spcPts val="1000"/>
              </a:spcAft>
              <a:defRPr sz="1000">
                <a:solidFill>
                  <a:srgbClr val="2D3436"/>
                </a:solidFill>
              </a:defRPr>
            </a:pPr>
            <a:r>
              <a:t>评估开源与商业方案后选 Gemini。</a:t>
            </a:r>
          </a:p>
          <a:p>
            <a:pPr>
              <a:lnSpc>
                <a:spcPct val="115000"/>
              </a:lnSpc>
              <a:spcAft>
                <a:spcPts val="1000"/>
              </a:spcAft>
              <a:defRPr sz="1000">
                <a:solidFill>
                  <a:srgbClr val="2D3436"/>
                </a:solidFill>
              </a:defRPr>
            </a:pPr>
            <a:r>
              <a:t>与 Google Cloud 共同配置并接入原有 review 流。</a:t>
            </a:r>
          </a:p>
          <a:p>
            <a:pPr>
              <a:lnSpc>
                <a:spcPct val="115000"/>
              </a:lnSpc>
              <a:spcAft>
                <a:spcPts val="1000"/>
              </a:spcAft>
              <a:defRPr sz="1000">
                <a:solidFill>
                  <a:srgbClr val="2D3436"/>
                </a:solidFill>
              </a:defRPr>
            </a:pPr>
            <a:r>
              <a:t>用于代码建议、review、lint、Kotlin 转换和新人辅导。</a:t>
            </a:r>
          </a:p>
        </p:txBody>
      </p:sp>
      <p:sp>
        <p:nvSpPr>
          <p:cNvPr id="14" name="Rounded Rectangle 13"/>
          <p:cNvSpPr/>
          <p:nvPr/>
        </p:nvSpPr>
        <p:spPr>
          <a:xfrm>
            <a:off x="8549640" y="2148840"/>
            <a:ext cx="2834640" cy="15544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95944" y="2258568"/>
            <a:ext cx="2560320" cy="256032"/>
          </a:xfrm>
          <a:prstGeom prst="rect">
            <a:avLst/>
          </a:prstGeom>
          <a:noFill/>
        </p:spPr>
        <p:txBody>
          <a:bodyPr wrap="none">
            <a:spAutoFit/>
          </a:bodyPr>
          <a:lstStyle/>
          <a:p>
            <a:r>
              <a:rPr sz="1300" b="1">
                <a:solidFill>
                  <a:srgbClr val="152D4E"/>
                </a:solidFill>
              </a:rPr>
              <a:t>使用后对比</a:t>
            </a:r>
          </a:p>
        </p:txBody>
      </p:sp>
      <p:sp>
        <p:nvSpPr>
          <p:cNvPr id="16" name="TextBox 15"/>
          <p:cNvSpPr txBox="1"/>
          <p:nvPr/>
        </p:nvSpPr>
        <p:spPr>
          <a:xfrm>
            <a:off x="8695944" y="2542032"/>
            <a:ext cx="2560320" cy="109728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早期内部指标显示生产率提升约 30%。</a:t>
            </a:r>
          </a:p>
          <a:p>
            <a:pPr>
              <a:lnSpc>
                <a:spcPct val="115000"/>
              </a:lnSpc>
              <a:spcAft>
                <a:spcPts val="1000"/>
              </a:spcAft>
              <a:defRPr sz="1000">
                <a:solidFill>
                  <a:srgbClr val="2D3436"/>
                </a:solidFill>
              </a:defRPr>
            </a:pPr>
            <a:r>
              <a:t>Spring 到 Kotlin 转换节省时间。</a:t>
            </a:r>
          </a:p>
          <a:p>
            <a:pPr>
              <a:lnSpc>
                <a:spcPct val="115000"/>
              </a:lnSpc>
              <a:spcAft>
                <a:spcPts val="1000"/>
              </a:spcAft>
              <a:defRPr sz="1000">
                <a:solidFill>
                  <a:srgbClr val="2D3436"/>
                </a:solidFill>
              </a:defRPr>
            </a:pPr>
            <a:r>
              <a:t>问题更早发现，新人 ramp up 更快。</a:t>
            </a:r>
          </a:p>
        </p:txBody>
      </p:sp>
      <p:sp>
        <p:nvSpPr>
          <p:cNvPr id="17" name="Rounded Rectangle 16"/>
          <p:cNvSpPr/>
          <p:nvPr/>
        </p:nvSpPr>
        <p:spPr>
          <a:xfrm>
            <a:off x="731520" y="3977639"/>
            <a:ext cx="5303520" cy="160020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4087368"/>
            <a:ext cx="5029200" cy="256032"/>
          </a:xfrm>
          <a:prstGeom prst="rect">
            <a:avLst/>
          </a:prstGeom>
          <a:noFill/>
        </p:spPr>
        <p:txBody>
          <a:bodyPr wrap="none">
            <a:spAutoFit/>
          </a:bodyPr>
          <a:lstStyle/>
          <a:p>
            <a:r>
              <a:rPr sz="1300" b="1">
                <a:solidFill>
                  <a:srgbClr val="276E78"/>
                </a:solidFill>
              </a:rPr>
              <a:t>证明了什么</a:t>
            </a:r>
          </a:p>
        </p:txBody>
      </p:sp>
      <p:sp>
        <p:nvSpPr>
          <p:cNvPr id="19" name="TextBox 18"/>
          <p:cNvSpPr txBox="1"/>
          <p:nvPr/>
        </p:nvSpPr>
        <p:spPr>
          <a:xfrm>
            <a:off x="877824" y="4370831"/>
            <a:ext cx="5029200" cy="114300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AI 不只用于写代码，也能提升 onboarding 和知识共享。</a:t>
            </a:r>
          </a:p>
          <a:p>
            <a:pPr>
              <a:lnSpc>
                <a:spcPct val="115000"/>
              </a:lnSpc>
              <a:spcAft>
                <a:spcPts val="1000"/>
              </a:spcAft>
              <a:defRPr sz="1000">
                <a:solidFill>
                  <a:srgbClr val="2D3436"/>
                </a:solidFill>
              </a:defRPr>
            </a:pPr>
            <a:r>
              <a:t>高安全行业更适合先设计护栏再扩大推广。</a:t>
            </a:r>
          </a:p>
        </p:txBody>
      </p:sp>
      <p:sp>
        <p:nvSpPr>
          <p:cNvPr id="20" name="Rounded Rectangle 19"/>
          <p:cNvSpPr/>
          <p:nvPr/>
        </p:nvSpPr>
        <p:spPr>
          <a:xfrm>
            <a:off x="6309360" y="3977639"/>
            <a:ext cx="5074920" cy="160020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5664" y="4087368"/>
            <a:ext cx="4800600" cy="256032"/>
          </a:xfrm>
          <a:prstGeom prst="rect">
            <a:avLst/>
          </a:prstGeom>
          <a:noFill/>
        </p:spPr>
        <p:txBody>
          <a:bodyPr wrap="none">
            <a:spAutoFit/>
          </a:bodyPr>
          <a:lstStyle/>
          <a:p>
            <a:r>
              <a:rPr sz="1300" b="1">
                <a:solidFill>
                  <a:srgbClr val="CA712C"/>
                </a:solidFill>
              </a:rPr>
              <a:t>怎么借鉴</a:t>
            </a:r>
          </a:p>
        </p:txBody>
      </p:sp>
      <p:sp>
        <p:nvSpPr>
          <p:cNvPr id="22" name="TextBox 21"/>
          <p:cNvSpPr txBox="1"/>
          <p:nvPr/>
        </p:nvSpPr>
        <p:spPr>
          <a:xfrm>
            <a:off x="6455664" y="4370831"/>
            <a:ext cx="4800600" cy="114300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试点优先选 review、代码解释、现代化和 onboarding。</a:t>
            </a:r>
          </a:p>
          <a:p>
            <a:pPr>
              <a:lnSpc>
                <a:spcPct val="115000"/>
              </a:lnSpc>
              <a:spcAft>
                <a:spcPts val="1000"/>
              </a:spcAft>
              <a:defRPr sz="1000">
                <a:solidFill>
                  <a:srgbClr val="2D3436"/>
                </a:solidFill>
              </a:defRPr>
            </a:pPr>
            <a:r>
              <a:t>把隐私、日志、管理控制与安全扫描一起纳入方案。</a:t>
            </a:r>
          </a:p>
        </p:txBody>
      </p:sp>
      <p:sp>
        <p:nvSpPr>
          <p:cNvPr id="23" name="Rounded Rectangle 22"/>
          <p:cNvSpPr/>
          <p:nvPr/>
        </p:nvSpPr>
        <p:spPr>
          <a:xfrm>
            <a:off x="868680" y="5257800"/>
            <a:ext cx="10332720" cy="7772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440680"/>
            <a:ext cx="9875520" cy="411480"/>
          </a:xfrm>
          <a:prstGeom prst="rect">
            <a:avLst/>
          </a:prstGeom>
          <a:noFill/>
        </p:spPr>
        <p:txBody>
          <a:bodyPr wrap="square">
            <a:spAutoFit/>
          </a:bodyPr>
          <a:lstStyle/>
          <a:p>
            <a:pPr>
              <a:spcAft>
                <a:spcPts val="200"/>
              </a:spcAft>
              <a:defRPr sz="900">
                <a:solidFill>
                  <a:srgbClr val="606C76"/>
                </a:solidFill>
              </a:defRPr>
            </a:pPr>
            <a:r>
              <a:t>来源：Google Cloud 官方客户案例（Dun &amp; Bradstreet）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5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822960"/>
          </a:xfrm>
          <a:prstGeom prst="rect">
            <a:avLst/>
          </a:prstGeom>
          <a:noFill/>
        </p:spPr>
        <p:txBody>
          <a:bodyPr wrap="none">
            <a:spAutoFit/>
          </a:bodyPr>
          <a:lstStyle/>
          <a:p>
            <a:r>
              <a:rPr sz="2400" b="1">
                <a:solidFill>
                  <a:srgbClr val="152D4E"/>
                </a:solidFill>
              </a:rPr>
              <a:t>详细案例 4</a:t>
            </a:r>
          </a:p>
        </p:txBody>
      </p:sp>
      <p:sp>
        <p:nvSpPr>
          <p:cNvPr id="4" name="TextBox 3"/>
          <p:cNvSpPr txBox="1"/>
          <p:nvPr/>
        </p:nvSpPr>
        <p:spPr>
          <a:xfrm>
            <a:off x="658368" y="1005840"/>
            <a:ext cx="10515600" cy="411480"/>
          </a:xfrm>
          <a:prstGeom prst="rect">
            <a:avLst/>
          </a:prstGeom>
          <a:noFill/>
        </p:spPr>
        <p:txBody>
          <a:bodyPr wrap="none">
            <a:spAutoFit/>
          </a:bodyPr>
          <a:lstStyle/>
          <a:p>
            <a:r>
              <a:rPr sz="1000">
                <a:solidFill>
                  <a:srgbClr val="606C76"/>
                </a:solidFill>
              </a:rPr>
              <a:t>Amazon Q：把现代化改造做成可量化 ROI 项目</a:t>
            </a:r>
          </a:p>
        </p:txBody>
      </p:sp>
      <p:sp>
        <p:nvSpPr>
          <p:cNvPr id="5" name="TextBox 4"/>
          <p:cNvSpPr txBox="1"/>
          <p:nvPr/>
        </p:nvSpPr>
        <p:spPr>
          <a:xfrm>
            <a:off x="685800" y="6400800"/>
            <a:ext cx="10972800" cy="228600"/>
          </a:xfrm>
          <a:prstGeom prst="rect">
            <a:avLst/>
          </a:prstGeom>
          <a:noFill/>
        </p:spPr>
        <p:txBody>
          <a:bodyPr wrap="none">
            <a:spAutoFit/>
          </a:bodyPr>
          <a:lstStyle/>
          <a:p>
            <a:r>
              <a:rPr sz="800">
                <a:solidFill>
                  <a:srgbClr val="606C76"/>
                </a:solidFill>
              </a:rPr>
              <a:t>资料来源均来自公开官方报告、官方博客或官方客户案例</a:t>
            </a:r>
          </a:p>
        </p:txBody>
      </p:sp>
      <p:sp>
        <p:nvSpPr>
          <p:cNvPr id="6" name="Rounded Rectangle 5"/>
          <p:cNvSpPr/>
          <p:nvPr/>
        </p:nvSpPr>
        <p:spPr>
          <a:xfrm>
            <a:off x="731520" y="1508760"/>
            <a:ext cx="10698480" cy="502920"/>
          </a:xfrm>
          <a:prstGeom prst="roundRect">
            <a:avLst/>
          </a:prstGeom>
          <a:solidFill>
            <a:srgbClr val="15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9344"/>
            <a:ext cx="10058400" cy="274320"/>
          </a:xfrm>
          <a:prstGeom prst="rect">
            <a:avLst/>
          </a:prstGeom>
          <a:noFill/>
        </p:spPr>
        <p:txBody>
          <a:bodyPr wrap="none">
            <a:spAutoFit/>
          </a:bodyPr>
          <a:lstStyle/>
          <a:p>
            <a:pPr algn="ctr"/>
            <a:r>
              <a:rPr sz="1800" b="1">
                <a:solidFill>
                  <a:srgbClr val="FFFFFF"/>
                </a:solidFill>
              </a:rPr>
              <a:t>Novacomp / Signaturit | 工具：Amazon Q Developer Transform</a:t>
            </a:r>
          </a:p>
        </p:txBody>
      </p:sp>
      <p:sp>
        <p:nvSpPr>
          <p:cNvPr id="8" name="Rounded Rectangle 7"/>
          <p:cNvSpPr/>
          <p:nvPr/>
        </p:nvSpPr>
        <p:spPr>
          <a:xfrm>
            <a:off x="731520" y="2148840"/>
            <a:ext cx="2743200" cy="15544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58568"/>
            <a:ext cx="2468880" cy="256032"/>
          </a:xfrm>
          <a:prstGeom prst="rect">
            <a:avLst/>
          </a:prstGeom>
          <a:noFill/>
        </p:spPr>
        <p:txBody>
          <a:bodyPr wrap="none">
            <a:spAutoFit/>
          </a:bodyPr>
          <a:lstStyle/>
          <a:p>
            <a:r>
              <a:rPr sz="1300" b="1">
                <a:solidFill>
                  <a:srgbClr val="CA712C"/>
                </a:solidFill>
              </a:rPr>
              <a:t>使用前</a:t>
            </a:r>
          </a:p>
        </p:txBody>
      </p:sp>
      <p:sp>
        <p:nvSpPr>
          <p:cNvPr id="10" name="TextBox 9"/>
          <p:cNvSpPr txBox="1"/>
          <p:nvPr/>
        </p:nvSpPr>
        <p:spPr>
          <a:xfrm>
            <a:off x="877824" y="2542032"/>
            <a:ext cx="2468880" cy="109728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Java/.NET 遗留系统升级长期被挤压。</a:t>
            </a:r>
          </a:p>
          <a:p>
            <a:pPr>
              <a:lnSpc>
                <a:spcPct val="115000"/>
              </a:lnSpc>
              <a:spcAft>
                <a:spcPts val="1000"/>
              </a:spcAft>
              <a:defRPr sz="1000">
                <a:solidFill>
                  <a:srgbClr val="2D3436"/>
                </a:solidFill>
              </a:defRPr>
            </a:pPr>
            <a:r>
              <a:t>这类改造高度依赖高级工程师，人力昂贵。</a:t>
            </a:r>
          </a:p>
        </p:txBody>
      </p:sp>
      <p:sp>
        <p:nvSpPr>
          <p:cNvPr id="11" name="Rounded Rectangle 10"/>
          <p:cNvSpPr/>
          <p:nvPr/>
        </p:nvSpPr>
        <p:spPr>
          <a:xfrm>
            <a:off x="3794760" y="2148840"/>
            <a:ext cx="4480560" cy="15544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41064" y="2258568"/>
            <a:ext cx="4206240" cy="256032"/>
          </a:xfrm>
          <a:prstGeom prst="rect">
            <a:avLst/>
          </a:prstGeom>
          <a:noFill/>
        </p:spPr>
        <p:txBody>
          <a:bodyPr wrap="none">
            <a:spAutoFit/>
          </a:bodyPr>
          <a:lstStyle/>
          <a:p>
            <a:r>
              <a:rPr sz="1300" b="1">
                <a:solidFill>
                  <a:srgbClr val="276E78"/>
                </a:solidFill>
              </a:rPr>
              <a:t>使用过程</a:t>
            </a:r>
          </a:p>
        </p:txBody>
      </p:sp>
      <p:sp>
        <p:nvSpPr>
          <p:cNvPr id="13" name="TextBox 12"/>
          <p:cNvSpPr txBox="1"/>
          <p:nvPr/>
        </p:nvSpPr>
        <p:spPr>
          <a:xfrm>
            <a:off x="3941064" y="2542032"/>
            <a:ext cx="4206240" cy="109728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在 IDE 或 CLI 发起 transformation 任务。</a:t>
            </a:r>
          </a:p>
          <a:p>
            <a:pPr>
              <a:lnSpc>
                <a:spcPct val="115000"/>
              </a:lnSpc>
              <a:spcAft>
                <a:spcPts val="1000"/>
              </a:spcAft>
              <a:defRPr sz="1000">
                <a:solidFill>
                  <a:srgbClr val="2D3436"/>
                </a:solidFill>
              </a:defRPr>
            </a:pPr>
            <a:r>
              <a:t>代理生成计划并执行升级与迁移。</a:t>
            </a:r>
          </a:p>
          <a:p>
            <a:pPr>
              <a:lnSpc>
                <a:spcPct val="115000"/>
              </a:lnSpc>
              <a:spcAft>
                <a:spcPts val="1000"/>
              </a:spcAft>
              <a:defRPr sz="1000">
                <a:solidFill>
                  <a:srgbClr val="2D3436"/>
                </a:solidFill>
              </a:defRPr>
            </a:pPr>
            <a:r>
              <a:t>输出 diff、summary、测试和部署准备结果。</a:t>
            </a:r>
          </a:p>
          <a:p>
            <a:pPr>
              <a:lnSpc>
                <a:spcPct val="115000"/>
              </a:lnSpc>
              <a:spcAft>
                <a:spcPts val="1000"/>
              </a:spcAft>
              <a:defRPr sz="1000">
                <a:solidFill>
                  <a:srgbClr val="2D3436"/>
                </a:solidFill>
              </a:defRPr>
            </a:pPr>
            <a:r>
              <a:t>人工审查后接受并合并。</a:t>
            </a:r>
          </a:p>
        </p:txBody>
      </p:sp>
      <p:sp>
        <p:nvSpPr>
          <p:cNvPr id="14" name="Rounded Rectangle 13"/>
          <p:cNvSpPr/>
          <p:nvPr/>
        </p:nvSpPr>
        <p:spPr>
          <a:xfrm>
            <a:off x="8549640" y="2148840"/>
            <a:ext cx="2834640" cy="15544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95944" y="2258568"/>
            <a:ext cx="2560320" cy="256032"/>
          </a:xfrm>
          <a:prstGeom prst="rect">
            <a:avLst/>
          </a:prstGeom>
          <a:noFill/>
        </p:spPr>
        <p:txBody>
          <a:bodyPr wrap="none">
            <a:spAutoFit/>
          </a:bodyPr>
          <a:lstStyle/>
          <a:p>
            <a:r>
              <a:rPr sz="1300" b="1">
                <a:solidFill>
                  <a:srgbClr val="152D4E"/>
                </a:solidFill>
              </a:rPr>
              <a:t>使用后对比</a:t>
            </a:r>
          </a:p>
        </p:txBody>
      </p:sp>
      <p:sp>
        <p:nvSpPr>
          <p:cNvPr id="16" name="TextBox 15"/>
          <p:cNvSpPr txBox="1"/>
          <p:nvPr/>
        </p:nvSpPr>
        <p:spPr>
          <a:xfrm>
            <a:off x="8695944" y="2542032"/>
            <a:ext cx="2560320" cy="109728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Novacomp：3 周缩短到 50 分钟。</a:t>
            </a:r>
          </a:p>
          <a:p>
            <a:pPr>
              <a:lnSpc>
                <a:spcPct val="115000"/>
              </a:lnSpc>
              <a:spcAft>
                <a:spcPts val="1000"/>
              </a:spcAft>
              <a:defRPr sz="1000">
                <a:solidFill>
                  <a:srgbClr val="2D3436"/>
                </a:solidFill>
              </a:defRPr>
            </a:pPr>
            <a:r>
              <a:t>平均技术债下降 60%。</a:t>
            </a:r>
          </a:p>
          <a:p>
            <a:pPr>
              <a:lnSpc>
                <a:spcPct val="115000"/>
              </a:lnSpc>
              <a:spcAft>
                <a:spcPts val="1000"/>
              </a:spcAft>
              <a:defRPr sz="1000">
                <a:solidFill>
                  <a:srgbClr val="2D3436"/>
                </a:solidFill>
              </a:defRPr>
            </a:pPr>
            <a:r>
              <a:t>Signaturit：6-8 个月缩短为几天。</a:t>
            </a:r>
          </a:p>
        </p:txBody>
      </p:sp>
      <p:sp>
        <p:nvSpPr>
          <p:cNvPr id="17" name="Rounded Rectangle 16"/>
          <p:cNvSpPr/>
          <p:nvPr/>
        </p:nvSpPr>
        <p:spPr>
          <a:xfrm>
            <a:off x="731520" y="3977639"/>
            <a:ext cx="5303520" cy="160020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4087368"/>
            <a:ext cx="5029200" cy="256032"/>
          </a:xfrm>
          <a:prstGeom prst="rect">
            <a:avLst/>
          </a:prstGeom>
          <a:noFill/>
        </p:spPr>
        <p:txBody>
          <a:bodyPr wrap="none">
            <a:spAutoFit/>
          </a:bodyPr>
          <a:lstStyle/>
          <a:p>
            <a:r>
              <a:rPr sz="1300" b="1">
                <a:solidFill>
                  <a:srgbClr val="276E78"/>
                </a:solidFill>
              </a:rPr>
              <a:t>证明了什么</a:t>
            </a:r>
          </a:p>
        </p:txBody>
      </p:sp>
      <p:sp>
        <p:nvSpPr>
          <p:cNvPr id="19" name="TextBox 18"/>
          <p:cNvSpPr txBox="1"/>
          <p:nvPr/>
        </p:nvSpPr>
        <p:spPr>
          <a:xfrm>
            <a:off x="877824" y="4370831"/>
            <a:ext cx="5029200" cy="114300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版本升级和迁移是当前最容易算清 ROI 的 AI 场景。</a:t>
            </a:r>
          </a:p>
          <a:p>
            <a:pPr>
              <a:lnSpc>
                <a:spcPct val="115000"/>
              </a:lnSpc>
              <a:spcAft>
                <a:spcPts val="1000"/>
              </a:spcAft>
              <a:defRPr sz="1000">
                <a:solidFill>
                  <a:srgbClr val="2D3436"/>
                </a:solidFill>
              </a:defRPr>
            </a:pPr>
            <a:r>
              <a:t>代理式改造必须配套计划、diff 和验证结果。</a:t>
            </a:r>
          </a:p>
        </p:txBody>
      </p:sp>
      <p:sp>
        <p:nvSpPr>
          <p:cNvPr id="20" name="Rounded Rectangle 19"/>
          <p:cNvSpPr/>
          <p:nvPr/>
        </p:nvSpPr>
        <p:spPr>
          <a:xfrm>
            <a:off x="6309360" y="3977639"/>
            <a:ext cx="5074920" cy="160020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5664" y="4087368"/>
            <a:ext cx="4800600" cy="256032"/>
          </a:xfrm>
          <a:prstGeom prst="rect">
            <a:avLst/>
          </a:prstGeom>
          <a:noFill/>
        </p:spPr>
        <p:txBody>
          <a:bodyPr wrap="none">
            <a:spAutoFit/>
          </a:bodyPr>
          <a:lstStyle/>
          <a:p>
            <a:r>
              <a:rPr sz="1300" b="1">
                <a:solidFill>
                  <a:srgbClr val="CA712C"/>
                </a:solidFill>
              </a:rPr>
              <a:t>怎么借鉴</a:t>
            </a:r>
          </a:p>
        </p:txBody>
      </p:sp>
      <p:sp>
        <p:nvSpPr>
          <p:cNvPr id="22" name="TextBox 21"/>
          <p:cNvSpPr txBox="1"/>
          <p:nvPr/>
        </p:nvSpPr>
        <p:spPr>
          <a:xfrm>
            <a:off x="6455664" y="4370831"/>
            <a:ext cx="4800600" cy="114300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首批项目选中等规模且容易验证的系统。</a:t>
            </a:r>
          </a:p>
          <a:p>
            <a:pPr>
              <a:lnSpc>
                <a:spcPct val="115000"/>
              </a:lnSpc>
              <a:spcAft>
                <a:spcPts val="1000"/>
              </a:spcAft>
              <a:defRPr sz="1000">
                <a:solidFill>
                  <a:srgbClr val="2D3436"/>
                </a:solidFill>
              </a:defRPr>
            </a:pPr>
            <a:r>
              <a:t>固定要求：计划、diff、测试、人工验收。</a:t>
            </a:r>
          </a:p>
        </p:txBody>
      </p:sp>
      <p:sp>
        <p:nvSpPr>
          <p:cNvPr id="23" name="Rounded Rectangle 22"/>
          <p:cNvSpPr/>
          <p:nvPr/>
        </p:nvSpPr>
        <p:spPr>
          <a:xfrm>
            <a:off x="868680" y="5257800"/>
            <a:ext cx="10332720" cy="7772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440680"/>
            <a:ext cx="9875520" cy="411480"/>
          </a:xfrm>
          <a:prstGeom prst="rect">
            <a:avLst/>
          </a:prstGeom>
          <a:noFill/>
        </p:spPr>
        <p:txBody>
          <a:bodyPr wrap="square">
            <a:spAutoFit/>
          </a:bodyPr>
          <a:lstStyle/>
          <a:p>
            <a:pPr>
              <a:spcAft>
                <a:spcPts val="200"/>
              </a:spcAft>
              <a:defRPr sz="900">
                <a:solidFill>
                  <a:srgbClr val="606C76"/>
                </a:solidFill>
              </a:defRPr>
            </a:pPr>
            <a:r>
              <a:t>来源：AWS 官方案例、产品页与文档</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76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822960"/>
          </a:xfrm>
          <a:prstGeom prst="rect">
            <a:avLst/>
          </a:prstGeom>
          <a:noFill/>
        </p:spPr>
        <p:txBody>
          <a:bodyPr wrap="none">
            <a:spAutoFit/>
          </a:bodyPr>
          <a:lstStyle/>
          <a:p>
            <a:r>
              <a:rPr sz="2400" b="1">
                <a:solidFill>
                  <a:srgbClr val="152D4E"/>
                </a:solidFill>
              </a:rPr>
              <a:t>详细案例 5</a:t>
            </a:r>
          </a:p>
        </p:txBody>
      </p:sp>
      <p:sp>
        <p:nvSpPr>
          <p:cNvPr id="4" name="TextBox 3"/>
          <p:cNvSpPr txBox="1"/>
          <p:nvPr/>
        </p:nvSpPr>
        <p:spPr>
          <a:xfrm>
            <a:off x="658368" y="1005840"/>
            <a:ext cx="10515600" cy="411480"/>
          </a:xfrm>
          <a:prstGeom prst="rect">
            <a:avLst/>
          </a:prstGeom>
          <a:noFill/>
        </p:spPr>
        <p:txBody>
          <a:bodyPr wrap="none">
            <a:spAutoFit/>
          </a:bodyPr>
          <a:lstStyle/>
          <a:p>
            <a:r>
              <a:rPr sz="1000">
                <a:solidFill>
                  <a:srgbClr val="606C76"/>
                </a:solidFill>
              </a:rPr>
              <a:t>NVIDIA：从写代码走向 SDLC 自动化</a:t>
            </a:r>
          </a:p>
        </p:txBody>
      </p:sp>
      <p:sp>
        <p:nvSpPr>
          <p:cNvPr id="5" name="TextBox 4"/>
          <p:cNvSpPr txBox="1"/>
          <p:nvPr/>
        </p:nvSpPr>
        <p:spPr>
          <a:xfrm>
            <a:off x="685800" y="6400800"/>
            <a:ext cx="10972800" cy="228600"/>
          </a:xfrm>
          <a:prstGeom prst="rect">
            <a:avLst/>
          </a:prstGeom>
          <a:noFill/>
        </p:spPr>
        <p:txBody>
          <a:bodyPr wrap="none">
            <a:spAutoFit/>
          </a:bodyPr>
          <a:lstStyle/>
          <a:p>
            <a:r>
              <a:rPr sz="800">
                <a:solidFill>
                  <a:srgbClr val="606C76"/>
                </a:solidFill>
              </a:rPr>
              <a:t>资料来源均来自公开官方报告、官方博客或官方客户案例</a:t>
            </a:r>
          </a:p>
        </p:txBody>
      </p:sp>
      <p:sp>
        <p:nvSpPr>
          <p:cNvPr id="6" name="Rounded Rectangle 5"/>
          <p:cNvSpPr/>
          <p:nvPr/>
        </p:nvSpPr>
        <p:spPr>
          <a:xfrm>
            <a:off x="731520" y="1508760"/>
            <a:ext cx="10698480" cy="502920"/>
          </a:xfrm>
          <a:prstGeom prst="roundRect">
            <a:avLst/>
          </a:prstGeom>
          <a:solidFill>
            <a:srgbClr val="15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9344"/>
            <a:ext cx="10058400" cy="274320"/>
          </a:xfrm>
          <a:prstGeom prst="rect">
            <a:avLst/>
          </a:prstGeom>
          <a:noFill/>
        </p:spPr>
        <p:txBody>
          <a:bodyPr wrap="none">
            <a:spAutoFit/>
          </a:bodyPr>
          <a:lstStyle/>
          <a:p>
            <a:pPr algn="ctr"/>
            <a:r>
              <a:rPr sz="1800" b="1">
                <a:solidFill>
                  <a:srgbClr val="FFFFFF"/>
                </a:solidFill>
              </a:rPr>
              <a:t>NVIDIA | 工具：Cursor</a:t>
            </a:r>
          </a:p>
        </p:txBody>
      </p:sp>
      <p:sp>
        <p:nvSpPr>
          <p:cNvPr id="8" name="Rounded Rectangle 7"/>
          <p:cNvSpPr/>
          <p:nvPr/>
        </p:nvSpPr>
        <p:spPr>
          <a:xfrm>
            <a:off x="731520" y="2148840"/>
            <a:ext cx="2743200" cy="15544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58568"/>
            <a:ext cx="2468880" cy="256032"/>
          </a:xfrm>
          <a:prstGeom prst="rect">
            <a:avLst/>
          </a:prstGeom>
          <a:noFill/>
        </p:spPr>
        <p:txBody>
          <a:bodyPr wrap="none">
            <a:spAutoFit/>
          </a:bodyPr>
          <a:lstStyle/>
          <a:p>
            <a:r>
              <a:rPr sz="1300" b="1">
                <a:solidFill>
                  <a:srgbClr val="CA712C"/>
                </a:solidFill>
              </a:rPr>
              <a:t>使用前</a:t>
            </a:r>
          </a:p>
        </p:txBody>
      </p:sp>
      <p:sp>
        <p:nvSpPr>
          <p:cNvPr id="10" name="TextBox 9"/>
          <p:cNvSpPr txBox="1"/>
          <p:nvPr/>
        </p:nvSpPr>
        <p:spPr>
          <a:xfrm>
            <a:off x="877824" y="2542032"/>
            <a:ext cx="2468880" cy="109728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代码库巨大且跨栈依赖复杂。</a:t>
            </a:r>
          </a:p>
          <a:p>
            <a:pPr>
              <a:lnSpc>
                <a:spcPct val="115000"/>
              </a:lnSpc>
              <a:spcAft>
                <a:spcPts val="1000"/>
              </a:spcAft>
              <a:defRPr sz="1000">
                <a:solidFill>
                  <a:srgbClr val="2D3436"/>
                </a:solidFill>
              </a:defRPr>
            </a:pPr>
            <a:r>
              <a:t>此前其他 AI 工具未带来显著提升。</a:t>
            </a:r>
          </a:p>
        </p:txBody>
      </p:sp>
      <p:sp>
        <p:nvSpPr>
          <p:cNvPr id="11" name="Rounded Rectangle 10"/>
          <p:cNvSpPr/>
          <p:nvPr/>
        </p:nvSpPr>
        <p:spPr>
          <a:xfrm>
            <a:off x="3794760" y="2148840"/>
            <a:ext cx="4480560" cy="15544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41064" y="2258568"/>
            <a:ext cx="4206240" cy="256032"/>
          </a:xfrm>
          <a:prstGeom prst="rect">
            <a:avLst/>
          </a:prstGeom>
          <a:noFill/>
        </p:spPr>
        <p:txBody>
          <a:bodyPr wrap="none">
            <a:spAutoFit/>
          </a:bodyPr>
          <a:lstStyle/>
          <a:p>
            <a:r>
              <a:rPr sz="1300" b="1">
                <a:solidFill>
                  <a:srgbClr val="276E78"/>
                </a:solidFill>
              </a:rPr>
              <a:t>使用过程</a:t>
            </a:r>
          </a:p>
        </p:txBody>
      </p:sp>
      <p:sp>
        <p:nvSpPr>
          <p:cNvPr id="13" name="TextBox 12"/>
          <p:cNvSpPr txBox="1"/>
          <p:nvPr/>
        </p:nvSpPr>
        <p:spPr>
          <a:xfrm>
            <a:off x="3941064" y="2542032"/>
            <a:ext cx="4206240" cy="109728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先用 Cursor 做大型代码库语义理解。</a:t>
            </a:r>
          </a:p>
          <a:p>
            <a:pPr>
              <a:lnSpc>
                <a:spcPct val="115000"/>
              </a:lnSpc>
              <a:spcAft>
                <a:spcPts val="1000"/>
              </a:spcAft>
              <a:defRPr sz="1000">
                <a:solidFill>
                  <a:srgbClr val="2D3436"/>
                </a:solidFill>
              </a:defRPr>
            </a:pPr>
            <a:r>
              <a:t>再扩展到测试、评审、调试和工作流自动化。</a:t>
            </a:r>
          </a:p>
          <a:p>
            <a:pPr>
              <a:lnSpc>
                <a:spcPct val="115000"/>
              </a:lnSpc>
              <a:spcAft>
                <a:spcPts val="1000"/>
              </a:spcAft>
              <a:defRPr sz="1000">
                <a:solidFill>
                  <a:srgbClr val="2D3436"/>
                </a:solidFill>
              </a:defRPr>
            </a:pPr>
            <a:r>
              <a:t>通过自定义规则自动化 git flow。</a:t>
            </a:r>
          </a:p>
          <a:p>
            <a:pPr>
              <a:lnSpc>
                <a:spcPct val="115000"/>
              </a:lnSpc>
              <a:spcAft>
                <a:spcPts val="1000"/>
              </a:spcAft>
              <a:defRPr sz="1000">
                <a:solidFill>
                  <a:srgbClr val="2D3436"/>
                </a:solidFill>
              </a:defRPr>
            </a:pPr>
            <a:r>
              <a:t>用 MCP 接 tickets 与文档，再修复并跑测试。</a:t>
            </a:r>
          </a:p>
        </p:txBody>
      </p:sp>
      <p:sp>
        <p:nvSpPr>
          <p:cNvPr id="14" name="Rounded Rectangle 13"/>
          <p:cNvSpPr/>
          <p:nvPr/>
        </p:nvSpPr>
        <p:spPr>
          <a:xfrm>
            <a:off x="8549640" y="2148840"/>
            <a:ext cx="2834640" cy="15544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95944" y="2258568"/>
            <a:ext cx="2560320" cy="256032"/>
          </a:xfrm>
          <a:prstGeom prst="rect">
            <a:avLst/>
          </a:prstGeom>
          <a:noFill/>
        </p:spPr>
        <p:txBody>
          <a:bodyPr wrap="none">
            <a:spAutoFit/>
          </a:bodyPr>
          <a:lstStyle/>
          <a:p>
            <a:r>
              <a:rPr sz="1300" b="1">
                <a:solidFill>
                  <a:srgbClr val="152D4E"/>
                </a:solidFill>
              </a:rPr>
              <a:t>使用后对比</a:t>
            </a:r>
          </a:p>
        </p:txBody>
      </p:sp>
      <p:sp>
        <p:nvSpPr>
          <p:cNvPr id="16" name="TextBox 15"/>
          <p:cNvSpPr txBox="1"/>
          <p:nvPr/>
        </p:nvSpPr>
        <p:spPr>
          <a:xfrm>
            <a:off x="8695944" y="2542032"/>
            <a:ext cx="2560320" cy="109728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30,000+ 开发者每天使用。</a:t>
            </a:r>
          </a:p>
          <a:p>
            <a:pPr>
              <a:lnSpc>
                <a:spcPct val="115000"/>
              </a:lnSpc>
              <a:spcAft>
                <a:spcPts val="1000"/>
              </a:spcAft>
              <a:defRPr sz="1000">
                <a:solidFill>
                  <a:srgbClr val="2D3436"/>
                </a:solidFill>
              </a:defRPr>
            </a:pPr>
            <a:r>
              <a:t>提交代码量提升到 3 倍以上。</a:t>
            </a:r>
          </a:p>
          <a:p>
            <a:pPr>
              <a:lnSpc>
                <a:spcPct val="115000"/>
              </a:lnSpc>
              <a:spcAft>
                <a:spcPts val="1000"/>
              </a:spcAft>
              <a:defRPr sz="1000">
                <a:solidFill>
                  <a:srgbClr val="2D3436"/>
                </a:solidFill>
              </a:defRPr>
            </a:pPr>
            <a:r>
              <a:t>新人 onboarding 更快。</a:t>
            </a:r>
          </a:p>
        </p:txBody>
      </p:sp>
      <p:sp>
        <p:nvSpPr>
          <p:cNvPr id="17" name="Rounded Rectangle 16"/>
          <p:cNvSpPr/>
          <p:nvPr/>
        </p:nvSpPr>
        <p:spPr>
          <a:xfrm>
            <a:off x="731520" y="3977639"/>
            <a:ext cx="5303520" cy="160020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4087368"/>
            <a:ext cx="5029200" cy="256032"/>
          </a:xfrm>
          <a:prstGeom prst="rect">
            <a:avLst/>
          </a:prstGeom>
          <a:noFill/>
        </p:spPr>
        <p:txBody>
          <a:bodyPr wrap="none">
            <a:spAutoFit/>
          </a:bodyPr>
          <a:lstStyle/>
          <a:p>
            <a:r>
              <a:rPr sz="1300" b="1">
                <a:solidFill>
                  <a:srgbClr val="276E78"/>
                </a:solidFill>
              </a:rPr>
              <a:t>证明了什么</a:t>
            </a:r>
          </a:p>
        </p:txBody>
      </p:sp>
      <p:sp>
        <p:nvSpPr>
          <p:cNvPr id="19" name="TextBox 18"/>
          <p:cNvSpPr txBox="1"/>
          <p:nvPr/>
        </p:nvSpPr>
        <p:spPr>
          <a:xfrm>
            <a:off x="877824" y="4370831"/>
            <a:ext cx="5029200" cy="114300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复杂工程的关键不只是模型，而是上下文接入能力。</a:t>
            </a:r>
          </a:p>
          <a:p>
            <a:pPr>
              <a:lnSpc>
                <a:spcPct val="115000"/>
              </a:lnSpc>
              <a:spcAft>
                <a:spcPts val="1000"/>
              </a:spcAft>
              <a:defRPr sz="1000">
                <a:solidFill>
                  <a:srgbClr val="2D3436"/>
                </a:solidFill>
              </a:defRPr>
            </a:pPr>
            <a:r>
              <a:t>AI 的成熟形态是自动执行工作流，而不是只补全代码。</a:t>
            </a:r>
          </a:p>
        </p:txBody>
      </p:sp>
      <p:sp>
        <p:nvSpPr>
          <p:cNvPr id="20" name="Rounded Rectangle 19"/>
          <p:cNvSpPr/>
          <p:nvPr/>
        </p:nvSpPr>
        <p:spPr>
          <a:xfrm>
            <a:off x="6309360" y="3977639"/>
            <a:ext cx="5074920" cy="160020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5664" y="4087368"/>
            <a:ext cx="4800600" cy="256032"/>
          </a:xfrm>
          <a:prstGeom prst="rect">
            <a:avLst/>
          </a:prstGeom>
          <a:noFill/>
        </p:spPr>
        <p:txBody>
          <a:bodyPr wrap="none">
            <a:spAutoFit/>
          </a:bodyPr>
          <a:lstStyle/>
          <a:p>
            <a:r>
              <a:rPr sz="1300" b="1">
                <a:solidFill>
                  <a:srgbClr val="CA712C"/>
                </a:solidFill>
              </a:rPr>
              <a:t>怎么借鉴</a:t>
            </a:r>
          </a:p>
        </p:txBody>
      </p:sp>
      <p:sp>
        <p:nvSpPr>
          <p:cNvPr id="22" name="TextBox 21"/>
          <p:cNvSpPr txBox="1"/>
          <p:nvPr/>
        </p:nvSpPr>
        <p:spPr>
          <a:xfrm>
            <a:off x="6455664" y="4370831"/>
            <a:ext cx="4800600" cy="114300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优先接代码库、工单、文档和 CI。</a:t>
            </a:r>
          </a:p>
          <a:p>
            <a:pPr>
              <a:lnSpc>
                <a:spcPct val="115000"/>
              </a:lnSpc>
              <a:spcAft>
                <a:spcPts val="1000"/>
              </a:spcAft>
              <a:defRPr sz="1000">
                <a:solidFill>
                  <a:srgbClr val="2D3436"/>
                </a:solidFill>
              </a:defRPr>
            </a:pPr>
            <a:r>
              <a:t>先从 bug 修复链路做半自动闭环。</a:t>
            </a:r>
          </a:p>
        </p:txBody>
      </p:sp>
      <p:sp>
        <p:nvSpPr>
          <p:cNvPr id="23" name="Rounded Rectangle 22"/>
          <p:cNvSpPr/>
          <p:nvPr/>
        </p:nvSpPr>
        <p:spPr>
          <a:xfrm>
            <a:off x="868680" y="5257800"/>
            <a:ext cx="10332720" cy="7772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440680"/>
            <a:ext cx="9875520" cy="411480"/>
          </a:xfrm>
          <a:prstGeom prst="rect">
            <a:avLst/>
          </a:prstGeom>
          <a:noFill/>
        </p:spPr>
        <p:txBody>
          <a:bodyPr wrap="square">
            <a:spAutoFit/>
          </a:bodyPr>
          <a:lstStyle/>
          <a:p>
            <a:pPr>
              <a:spcAft>
                <a:spcPts val="200"/>
              </a:spcAft>
              <a:defRPr sz="900">
                <a:solidFill>
                  <a:srgbClr val="606C76"/>
                </a:solidFill>
              </a:defRPr>
            </a:pPr>
            <a:r>
              <a:t>来源：Cursor 官方客户案例（NVIDIA）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CA71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822960"/>
          </a:xfrm>
          <a:prstGeom prst="rect">
            <a:avLst/>
          </a:prstGeom>
          <a:noFill/>
        </p:spPr>
        <p:txBody>
          <a:bodyPr wrap="none">
            <a:spAutoFit/>
          </a:bodyPr>
          <a:lstStyle/>
          <a:p>
            <a:r>
              <a:rPr sz="2400" b="1">
                <a:solidFill>
                  <a:srgbClr val="152D4E"/>
                </a:solidFill>
              </a:rPr>
              <a:t>详细案例 6</a:t>
            </a:r>
          </a:p>
        </p:txBody>
      </p:sp>
      <p:sp>
        <p:nvSpPr>
          <p:cNvPr id="4" name="TextBox 3"/>
          <p:cNvSpPr txBox="1"/>
          <p:nvPr/>
        </p:nvSpPr>
        <p:spPr>
          <a:xfrm>
            <a:off x="658368" y="1005840"/>
            <a:ext cx="10515600" cy="411480"/>
          </a:xfrm>
          <a:prstGeom prst="rect">
            <a:avLst/>
          </a:prstGeom>
          <a:noFill/>
        </p:spPr>
        <p:txBody>
          <a:bodyPr wrap="none">
            <a:spAutoFit/>
          </a:bodyPr>
          <a:lstStyle/>
          <a:p>
            <a:r>
              <a:rPr sz="1000">
                <a:solidFill>
                  <a:srgbClr val="606C76"/>
                </a:solidFill>
              </a:rPr>
              <a:t>PlanetScale：AI 写码更快后，评审成为新瓶颈</a:t>
            </a:r>
          </a:p>
        </p:txBody>
      </p:sp>
      <p:sp>
        <p:nvSpPr>
          <p:cNvPr id="5" name="TextBox 4"/>
          <p:cNvSpPr txBox="1"/>
          <p:nvPr/>
        </p:nvSpPr>
        <p:spPr>
          <a:xfrm>
            <a:off x="685800" y="6400800"/>
            <a:ext cx="10972800" cy="228600"/>
          </a:xfrm>
          <a:prstGeom prst="rect">
            <a:avLst/>
          </a:prstGeom>
          <a:noFill/>
        </p:spPr>
        <p:txBody>
          <a:bodyPr wrap="none">
            <a:spAutoFit/>
          </a:bodyPr>
          <a:lstStyle/>
          <a:p>
            <a:r>
              <a:rPr sz="800">
                <a:solidFill>
                  <a:srgbClr val="606C76"/>
                </a:solidFill>
              </a:rPr>
              <a:t>资料来源均来自公开官方报告、官方博客或官方客户案例</a:t>
            </a:r>
          </a:p>
        </p:txBody>
      </p:sp>
      <p:sp>
        <p:nvSpPr>
          <p:cNvPr id="6" name="Rounded Rectangle 5"/>
          <p:cNvSpPr/>
          <p:nvPr/>
        </p:nvSpPr>
        <p:spPr>
          <a:xfrm>
            <a:off x="731520" y="1508760"/>
            <a:ext cx="10698480" cy="502920"/>
          </a:xfrm>
          <a:prstGeom prst="roundRect">
            <a:avLst/>
          </a:prstGeom>
          <a:solidFill>
            <a:srgbClr val="15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9344"/>
            <a:ext cx="10058400" cy="274320"/>
          </a:xfrm>
          <a:prstGeom prst="rect">
            <a:avLst/>
          </a:prstGeom>
          <a:noFill/>
        </p:spPr>
        <p:txBody>
          <a:bodyPr wrap="none">
            <a:spAutoFit/>
          </a:bodyPr>
          <a:lstStyle/>
          <a:p>
            <a:pPr algn="ctr"/>
            <a:r>
              <a:rPr sz="1800" b="1">
                <a:solidFill>
                  <a:srgbClr val="FFFFFF"/>
                </a:solidFill>
              </a:rPr>
              <a:t>PlanetScale | 工具：Cursor Bugbot</a:t>
            </a:r>
          </a:p>
        </p:txBody>
      </p:sp>
      <p:sp>
        <p:nvSpPr>
          <p:cNvPr id="8" name="Rounded Rectangle 7"/>
          <p:cNvSpPr/>
          <p:nvPr/>
        </p:nvSpPr>
        <p:spPr>
          <a:xfrm>
            <a:off x="731520" y="2148840"/>
            <a:ext cx="2743200" cy="15544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58568"/>
            <a:ext cx="2468880" cy="256032"/>
          </a:xfrm>
          <a:prstGeom prst="rect">
            <a:avLst/>
          </a:prstGeom>
          <a:noFill/>
        </p:spPr>
        <p:txBody>
          <a:bodyPr wrap="none">
            <a:spAutoFit/>
          </a:bodyPr>
          <a:lstStyle/>
          <a:p>
            <a:r>
              <a:rPr sz="1300" b="1">
                <a:solidFill>
                  <a:srgbClr val="CA712C"/>
                </a:solidFill>
              </a:rPr>
              <a:t>使用前</a:t>
            </a:r>
          </a:p>
        </p:txBody>
      </p:sp>
      <p:sp>
        <p:nvSpPr>
          <p:cNvPr id="10" name="TextBox 9"/>
          <p:cNvSpPr txBox="1"/>
          <p:nvPr/>
        </p:nvSpPr>
        <p:spPr>
          <a:xfrm>
            <a:off x="877824" y="2542032"/>
            <a:ext cx="2468880" cy="109728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代码生成变快，但人工 review 能力不变。</a:t>
            </a:r>
          </a:p>
          <a:p>
            <a:pPr>
              <a:lnSpc>
                <a:spcPct val="115000"/>
              </a:lnSpc>
              <a:spcAft>
                <a:spcPts val="1000"/>
              </a:spcAft>
              <a:defRPr sz="1000">
                <a:solidFill>
                  <a:srgbClr val="2D3436"/>
                </a:solidFill>
              </a:defRPr>
            </a:pPr>
            <a:r>
              <a:t>如果只靠人力扩容，需要额外 2 名工程师专做评审。</a:t>
            </a:r>
          </a:p>
        </p:txBody>
      </p:sp>
      <p:sp>
        <p:nvSpPr>
          <p:cNvPr id="11" name="Rounded Rectangle 10"/>
          <p:cNvSpPr/>
          <p:nvPr/>
        </p:nvSpPr>
        <p:spPr>
          <a:xfrm>
            <a:off x="3794760" y="2148840"/>
            <a:ext cx="4480560" cy="15544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41064" y="2258568"/>
            <a:ext cx="4206240" cy="256032"/>
          </a:xfrm>
          <a:prstGeom prst="rect">
            <a:avLst/>
          </a:prstGeom>
          <a:noFill/>
        </p:spPr>
        <p:txBody>
          <a:bodyPr wrap="none">
            <a:spAutoFit/>
          </a:bodyPr>
          <a:lstStyle/>
          <a:p>
            <a:r>
              <a:rPr sz="1300" b="1">
                <a:solidFill>
                  <a:srgbClr val="276E78"/>
                </a:solidFill>
              </a:rPr>
              <a:t>使用过程</a:t>
            </a:r>
          </a:p>
        </p:txBody>
      </p:sp>
      <p:sp>
        <p:nvSpPr>
          <p:cNvPr id="13" name="TextBox 12"/>
          <p:cNvSpPr txBox="1"/>
          <p:nvPr/>
        </p:nvSpPr>
        <p:spPr>
          <a:xfrm>
            <a:off x="3941064" y="2542032"/>
            <a:ext cx="4206240" cy="109728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在 PR 流程引入 Bugbot 作为 agentic review layer。</a:t>
            </a:r>
          </a:p>
          <a:p>
            <a:pPr>
              <a:lnSpc>
                <a:spcPct val="115000"/>
              </a:lnSpc>
              <a:spcAft>
                <a:spcPts val="1000"/>
              </a:spcAft>
              <a:defRPr sz="1000">
                <a:solidFill>
                  <a:srgbClr val="2D3436"/>
                </a:solidFill>
              </a:defRPr>
            </a:pPr>
            <a:r>
              <a:t>重点检查状态同步、逻辑流、异步交互和边界条件。</a:t>
            </a:r>
          </a:p>
          <a:p>
            <a:pPr>
              <a:lnSpc>
                <a:spcPct val="115000"/>
              </a:lnSpc>
              <a:spcAft>
                <a:spcPts val="1000"/>
              </a:spcAft>
              <a:defRPr sz="1000">
                <a:solidFill>
                  <a:srgbClr val="2D3436"/>
                </a:solidFill>
              </a:defRPr>
            </a:pPr>
            <a:r>
              <a:t>以 merge time 解决率衡量评论价值。</a:t>
            </a:r>
          </a:p>
        </p:txBody>
      </p:sp>
      <p:sp>
        <p:nvSpPr>
          <p:cNvPr id="14" name="Rounded Rectangle 13"/>
          <p:cNvSpPr/>
          <p:nvPr/>
        </p:nvSpPr>
        <p:spPr>
          <a:xfrm>
            <a:off x="8549640" y="2148840"/>
            <a:ext cx="2834640" cy="15544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95944" y="2258568"/>
            <a:ext cx="2560320" cy="256032"/>
          </a:xfrm>
          <a:prstGeom prst="rect">
            <a:avLst/>
          </a:prstGeom>
          <a:noFill/>
        </p:spPr>
        <p:txBody>
          <a:bodyPr wrap="none">
            <a:spAutoFit/>
          </a:bodyPr>
          <a:lstStyle/>
          <a:p>
            <a:r>
              <a:rPr sz="1300" b="1">
                <a:solidFill>
                  <a:srgbClr val="152D4E"/>
                </a:solidFill>
              </a:rPr>
              <a:t>使用后对比</a:t>
            </a:r>
          </a:p>
        </p:txBody>
      </p:sp>
      <p:sp>
        <p:nvSpPr>
          <p:cNvPr id="16" name="TextBox 15"/>
          <p:cNvSpPr txBox="1"/>
          <p:nvPr/>
        </p:nvSpPr>
        <p:spPr>
          <a:xfrm>
            <a:off x="8695944" y="2542032"/>
            <a:ext cx="2560320" cy="109728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每月评审 2,000+ PR。</a:t>
            </a:r>
          </a:p>
          <a:p>
            <a:pPr>
              <a:lnSpc>
                <a:spcPct val="115000"/>
              </a:lnSpc>
              <a:spcAft>
                <a:spcPts val="1000"/>
              </a:spcAft>
              <a:defRPr sz="1000">
                <a:solidFill>
                  <a:srgbClr val="2D3436"/>
                </a:solidFill>
              </a:defRPr>
            </a:pPr>
            <a:r>
              <a:t>约 80% 评论在合并前被处理。</a:t>
            </a:r>
          </a:p>
          <a:p>
            <a:pPr>
              <a:lnSpc>
                <a:spcPct val="115000"/>
              </a:lnSpc>
              <a:spcAft>
                <a:spcPts val="1000"/>
              </a:spcAft>
              <a:defRPr sz="1000">
                <a:solidFill>
                  <a:srgbClr val="2D3436"/>
                </a:solidFill>
              </a:defRPr>
            </a:pPr>
            <a:r>
              <a:t>节省约 2 FTE 的 review 工作量。</a:t>
            </a:r>
          </a:p>
        </p:txBody>
      </p:sp>
      <p:sp>
        <p:nvSpPr>
          <p:cNvPr id="17" name="Rounded Rectangle 16"/>
          <p:cNvSpPr/>
          <p:nvPr/>
        </p:nvSpPr>
        <p:spPr>
          <a:xfrm>
            <a:off x="731520" y="3977639"/>
            <a:ext cx="5303520" cy="160020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4087368"/>
            <a:ext cx="5029200" cy="256032"/>
          </a:xfrm>
          <a:prstGeom prst="rect">
            <a:avLst/>
          </a:prstGeom>
          <a:noFill/>
        </p:spPr>
        <p:txBody>
          <a:bodyPr wrap="none">
            <a:spAutoFit/>
          </a:bodyPr>
          <a:lstStyle/>
          <a:p>
            <a:r>
              <a:rPr sz="1300" b="1">
                <a:solidFill>
                  <a:srgbClr val="276E78"/>
                </a:solidFill>
              </a:rPr>
              <a:t>证明了什么</a:t>
            </a:r>
          </a:p>
        </p:txBody>
      </p:sp>
      <p:sp>
        <p:nvSpPr>
          <p:cNvPr id="19" name="TextBox 18"/>
          <p:cNvSpPr txBox="1"/>
          <p:nvPr/>
        </p:nvSpPr>
        <p:spPr>
          <a:xfrm>
            <a:off x="877824" y="4370831"/>
            <a:ext cx="5029200" cy="114300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AI 提高吞吐后，下游 review 会成为瓶颈。</a:t>
            </a:r>
          </a:p>
          <a:p>
            <a:pPr>
              <a:lnSpc>
                <a:spcPct val="115000"/>
              </a:lnSpc>
              <a:spcAft>
                <a:spcPts val="1000"/>
              </a:spcAft>
              <a:defRPr sz="1000">
                <a:solidFill>
                  <a:srgbClr val="2D3436"/>
                </a:solidFill>
              </a:defRPr>
            </a:pPr>
            <a:r>
              <a:t>专门的 AI review 层比直接用通用模型审 PR 更有效。</a:t>
            </a:r>
          </a:p>
        </p:txBody>
      </p:sp>
      <p:sp>
        <p:nvSpPr>
          <p:cNvPr id="20" name="Rounded Rectangle 19"/>
          <p:cNvSpPr/>
          <p:nvPr/>
        </p:nvSpPr>
        <p:spPr>
          <a:xfrm>
            <a:off x="6309360" y="3977639"/>
            <a:ext cx="5074920" cy="160020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5664" y="4087368"/>
            <a:ext cx="4800600" cy="256032"/>
          </a:xfrm>
          <a:prstGeom prst="rect">
            <a:avLst/>
          </a:prstGeom>
          <a:noFill/>
        </p:spPr>
        <p:txBody>
          <a:bodyPr wrap="none">
            <a:spAutoFit/>
          </a:bodyPr>
          <a:lstStyle/>
          <a:p>
            <a:r>
              <a:rPr sz="1300" b="1">
                <a:solidFill>
                  <a:srgbClr val="CA712C"/>
                </a:solidFill>
              </a:rPr>
              <a:t>怎么借鉴</a:t>
            </a:r>
          </a:p>
        </p:txBody>
      </p:sp>
      <p:sp>
        <p:nvSpPr>
          <p:cNvPr id="22" name="TextBox 21"/>
          <p:cNvSpPr txBox="1"/>
          <p:nvPr/>
        </p:nvSpPr>
        <p:spPr>
          <a:xfrm>
            <a:off x="6455664" y="4370831"/>
            <a:ext cx="4800600" cy="114300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如果团队已大量用 AI 写代码，下一步就该补 AI review。</a:t>
            </a:r>
          </a:p>
          <a:p>
            <a:pPr>
              <a:lnSpc>
                <a:spcPct val="115000"/>
              </a:lnSpc>
              <a:spcAft>
                <a:spcPts val="1000"/>
              </a:spcAft>
              <a:defRPr sz="1000">
                <a:solidFill>
                  <a:srgbClr val="2D3436"/>
                </a:solidFill>
              </a:defRPr>
            </a:pPr>
            <a:r>
              <a:t>指标看高价值评论解决率，而不是评论数量。</a:t>
            </a:r>
          </a:p>
        </p:txBody>
      </p:sp>
      <p:sp>
        <p:nvSpPr>
          <p:cNvPr id="23" name="Rounded Rectangle 22"/>
          <p:cNvSpPr/>
          <p:nvPr/>
        </p:nvSpPr>
        <p:spPr>
          <a:xfrm>
            <a:off x="868680" y="5257800"/>
            <a:ext cx="10332720" cy="7772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440680"/>
            <a:ext cx="9875520" cy="411480"/>
          </a:xfrm>
          <a:prstGeom prst="rect">
            <a:avLst/>
          </a:prstGeom>
          <a:noFill/>
        </p:spPr>
        <p:txBody>
          <a:bodyPr wrap="square">
            <a:spAutoFit/>
          </a:bodyPr>
          <a:lstStyle/>
          <a:p>
            <a:pPr>
              <a:spcAft>
                <a:spcPts val="200"/>
              </a:spcAft>
              <a:defRPr sz="900">
                <a:solidFill>
                  <a:srgbClr val="606C76"/>
                </a:solidFill>
              </a:defRPr>
            </a:pPr>
            <a:r>
              <a:t>来源：Cursor 官方客户案例（PlanetScale）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5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822960"/>
          </a:xfrm>
          <a:prstGeom prst="rect">
            <a:avLst/>
          </a:prstGeom>
          <a:noFill/>
        </p:spPr>
        <p:txBody>
          <a:bodyPr wrap="none">
            <a:spAutoFit/>
          </a:bodyPr>
          <a:lstStyle/>
          <a:p>
            <a:r>
              <a:rPr sz="2400" b="1">
                <a:solidFill>
                  <a:srgbClr val="152D4E"/>
                </a:solidFill>
              </a:rPr>
              <a:t>详细案例 7</a:t>
            </a:r>
          </a:p>
        </p:txBody>
      </p:sp>
      <p:sp>
        <p:nvSpPr>
          <p:cNvPr id="4" name="TextBox 3"/>
          <p:cNvSpPr txBox="1"/>
          <p:nvPr/>
        </p:nvSpPr>
        <p:spPr>
          <a:xfrm>
            <a:off x="658368" y="1005840"/>
            <a:ext cx="10515600" cy="411480"/>
          </a:xfrm>
          <a:prstGeom prst="rect">
            <a:avLst/>
          </a:prstGeom>
          <a:noFill/>
        </p:spPr>
        <p:txBody>
          <a:bodyPr wrap="none">
            <a:spAutoFit/>
          </a:bodyPr>
          <a:lstStyle/>
          <a:p>
            <a:r>
              <a:rPr sz="1000">
                <a:solidFill>
                  <a:srgbClr val="606C76"/>
                </a:solidFill>
              </a:rPr>
              <a:t>OpenAI：agent-first 软件工程如何工作</a:t>
            </a:r>
          </a:p>
        </p:txBody>
      </p:sp>
      <p:sp>
        <p:nvSpPr>
          <p:cNvPr id="5" name="TextBox 4"/>
          <p:cNvSpPr txBox="1"/>
          <p:nvPr/>
        </p:nvSpPr>
        <p:spPr>
          <a:xfrm>
            <a:off x="685800" y="6400800"/>
            <a:ext cx="10972800" cy="228600"/>
          </a:xfrm>
          <a:prstGeom prst="rect">
            <a:avLst/>
          </a:prstGeom>
          <a:noFill/>
        </p:spPr>
        <p:txBody>
          <a:bodyPr wrap="none">
            <a:spAutoFit/>
          </a:bodyPr>
          <a:lstStyle/>
          <a:p>
            <a:r>
              <a:rPr sz="800">
                <a:solidFill>
                  <a:srgbClr val="606C76"/>
                </a:solidFill>
              </a:rPr>
              <a:t>资料来源均来自公开官方报告、官方博客或官方客户案例</a:t>
            </a:r>
          </a:p>
        </p:txBody>
      </p:sp>
      <p:sp>
        <p:nvSpPr>
          <p:cNvPr id="6" name="Rounded Rectangle 5"/>
          <p:cNvSpPr/>
          <p:nvPr/>
        </p:nvSpPr>
        <p:spPr>
          <a:xfrm>
            <a:off x="731520" y="1508760"/>
            <a:ext cx="10698480" cy="502920"/>
          </a:xfrm>
          <a:prstGeom prst="roundRect">
            <a:avLst/>
          </a:prstGeom>
          <a:solidFill>
            <a:srgbClr val="15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9344"/>
            <a:ext cx="10058400" cy="274320"/>
          </a:xfrm>
          <a:prstGeom prst="rect">
            <a:avLst/>
          </a:prstGeom>
          <a:noFill/>
        </p:spPr>
        <p:txBody>
          <a:bodyPr wrap="none">
            <a:spAutoFit/>
          </a:bodyPr>
          <a:lstStyle/>
          <a:p>
            <a:pPr algn="ctr"/>
            <a:r>
              <a:rPr sz="1800" b="1">
                <a:solidFill>
                  <a:srgbClr val="FFFFFF"/>
                </a:solidFill>
              </a:rPr>
              <a:t>OpenAI | 工具：Codex</a:t>
            </a:r>
          </a:p>
        </p:txBody>
      </p:sp>
      <p:sp>
        <p:nvSpPr>
          <p:cNvPr id="8" name="Rounded Rectangle 7"/>
          <p:cNvSpPr/>
          <p:nvPr/>
        </p:nvSpPr>
        <p:spPr>
          <a:xfrm>
            <a:off x="731520" y="2148840"/>
            <a:ext cx="2743200" cy="15544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58568"/>
            <a:ext cx="2468880" cy="256032"/>
          </a:xfrm>
          <a:prstGeom prst="rect">
            <a:avLst/>
          </a:prstGeom>
          <a:noFill/>
        </p:spPr>
        <p:txBody>
          <a:bodyPr wrap="none">
            <a:spAutoFit/>
          </a:bodyPr>
          <a:lstStyle/>
          <a:p>
            <a:r>
              <a:rPr sz="1300" b="1">
                <a:solidFill>
                  <a:srgbClr val="CA712C"/>
                </a:solidFill>
              </a:rPr>
              <a:t>使用前</a:t>
            </a:r>
          </a:p>
        </p:txBody>
      </p:sp>
      <p:sp>
        <p:nvSpPr>
          <p:cNvPr id="10" name="TextBox 9"/>
          <p:cNvSpPr txBox="1"/>
          <p:nvPr/>
        </p:nvSpPr>
        <p:spPr>
          <a:xfrm>
            <a:off x="877824" y="2542032"/>
            <a:ext cx="2468880" cy="109728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从空仓库出发，设定 0 行人工代码的极端约束。</a:t>
            </a:r>
          </a:p>
          <a:p>
            <a:pPr>
              <a:lnSpc>
                <a:spcPct val="115000"/>
              </a:lnSpc>
              <a:spcAft>
                <a:spcPts val="1000"/>
              </a:spcAft>
              <a:defRPr sz="1000">
                <a:solidFill>
                  <a:srgbClr val="2D3436"/>
                </a:solidFill>
              </a:defRPr>
            </a:pPr>
            <a:r>
              <a:t>核心问题转为如何设计环境与反馈回路。</a:t>
            </a:r>
          </a:p>
        </p:txBody>
      </p:sp>
      <p:sp>
        <p:nvSpPr>
          <p:cNvPr id="11" name="Rounded Rectangle 10"/>
          <p:cNvSpPr/>
          <p:nvPr/>
        </p:nvSpPr>
        <p:spPr>
          <a:xfrm>
            <a:off x="3794760" y="2148840"/>
            <a:ext cx="4480560" cy="15544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41064" y="2258568"/>
            <a:ext cx="4206240" cy="256032"/>
          </a:xfrm>
          <a:prstGeom prst="rect">
            <a:avLst/>
          </a:prstGeom>
          <a:noFill/>
        </p:spPr>
        <p:txBody>
          <a:bodyPr wrap="none">
            <a:spAutoFit/>
          </a:bodyPr>
          <a:lstStyle/>
          <a:p>
            <a:r>
              <a:rPr sz="1300" b="1">
                <a:solidFill>
                  <a:srgbClr val="276E78"/>
                </a:solidFill>
              </a:rPr>
              <a:t>使用过程</a:t>
            </a:r>
          </a:p>
        </p:txBody>
      </p:sp>
      <p:sp>
        <p:nvSpPr>
          <p:cNvPr id="13" name="TextBox 12"/>
          <p:cNvSpPr txBox="1"/>
          <p:nvPr/>
        </p:nvSpPr>
        <p:spPr>
          <a:xfrm>
            <a:off x="3941064" y="2542032"/>
            <a:ext cx="4206240" cy="109728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工程师用 prompt 定义目标与约束。</a:t>
            </a:r>
          </a:p>
          <a:p>
            <a:pPr>
              <a:lnSpc>
                <a:spcPct val="115000"/>
              </a:lnSpc>
              <a:spcAft>
                <a:spcPts val="1000"/>
              </a:spcAft>
              <a:defRPr sz="1000">
                <a:solidFill>
                  <a:srgbClr val="2D3436"/>
                </a:solidFill>
              </a:defRPr>
            </a:pPr>
            <a:r>
              <a:t>Codex 生成应用、测试、CI、文档和可观测性。</a:t>
            </a:r>
          </a:p>
          <a:p>
            <a:pPr>
              <a:lnSpc>
                <a:spcPct val="115000"/>
              </a:lnSpc>
              <a:spcAft>
                <a:spcPts val="1000"/>
              </a:spcAft>
              <a:defRPr sz="1000">
                <a:solidFill>
                  <a:srgbClr val="2D3436"/>
                </a:solidFill>
              </a:defRPr>
            </a:pPr>
            <a:r>
              <a:t>仓库知识成为 system of record。</a:t>
            </a:r>
          </a:p>
          <a:p>
            <a:pPr>
              <a:lnSpc>
                <a:spcPct val="115000"/>
              </a:lnSpc>
              <a:spcAft>
                <a:spcPts val="1000"/>
              </a:spcAft>
              <a:defRPr sz="1000">
                <a:solidFill>
                  <a:srgbClr val="2D3436"/>
                </a:solidFill>
              </a:defRPr>
            </a:pPr>
            <a:r>
              <a:t>把日志、指标、浏览器工具暴露给代理做验证。</a:t>
            </a:r>
          </a:p>
        </p:txBody>
      </p:sp>
      <p:sp>
        <p:nvSpPr>
          <p:cNvPr id="14" name="Rounded Rectangle 13"/>
          <p:cNvSpPr/>
          <p:nvPr/>
        </p:nvSpPr>
        <p:spPr>
          <a:xfrm>
            <a:off x="8549640" y="2148840"/>
            <a:ext cx="2834640" cy="155448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95944" y="2258568"/>
            <a:ext cx="2560320" cy="256032"/>
          </a:xfrm>
          <a:prstGeom prst="rect">
            <a:avLst/>
          </a:prstGeom>
          <a:noFill/>
        </p:spPr>
        <p:txBody>
          <a:bodyPr wrap="none">
            <a:spAutoFit/>
          </a:bodyPr>
          <a:lstStyle/>
          <a:p>
            <a:r>
              <a:rPr sz="1300" b="1">
                <a:solidFill>
                  <a:srgbClr val="152D4E"/>
                </a:solidFill>
              </a:rPr>
              <a:t>使用后对比</a:t>
            </a:r>
          </a:p>
        </p:txBody>
      </p:sp>
      <p:sp>
        <p:nvSpPr>
          <p:cNvPr id="16" name="TextBox 15"/>
          <p:cNvSpPr txBox="1"/>
          <p:nvPr/>
        </p:nvSpPr>
        <p:spPr>
          <a:xfrm>
            <a:off x="8695944" y="2542032"/>
            <a:ext cx="2560320" cy="109728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5 个月交付内部 beta 产品。</a:t>
            </a:r>
          </a:p>
          <a:p>
            <a:pPr>
              <a:lnSpc>
                <a:spcPct val="115000"/>
              </a:lnSpc>
              <a:spcAft>
                <a:spcPts val="1000"/>
              </a:spcAft>
              <a:defRPr sz="1000">
                <a:solidFill>
                  <a:srgbClr val="2D3436"/>
                </a:solidFill>
              </a:defRPr>
            </a:pPr>
            <a:r>
              <a:t>约 100 万行代码、1,500 个 PR。</a:t>
            </a:r>
          </a:p>
          <a:p>
            <a:pPr>
              <a:lnSpc>
                <a:spcPct val="115000"/>
              </a:lnSpc>
              <a:spcAft>
                <a:spcPts val="1000"/>
              </a:spcAft>
              <a:defRPr sz="1000">
                <a:solidFill>
                  <a:srgbClr val="2D3436"/>
                </a:solidFill>
              </a:defRPr>
            </a:pPr>
            <a:r>
              <a:t>整体速度约为人工方式的 1/10。</a:t>
            </a:r>
          </a:p>
        </p:txBody>
      </p:sp>
      <p:sp>
        <p:nvSpPr>
          <p:cNvPr id="17" name="Rounded Rectangle 16"/>
          <p:cNvSpPr/>
          <p:nvPr/>
        </p:nvSpPr>
        <p:spPr>
          <a:xfrm>
            <a:off x="731520" y="3977639"/>
            <a:ext cx="5303520" cy="160020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4087368"/>
            <a:ext cx="5029200" cy="256032"/>
          </a:xfrm>
          <a:prstGeom prst="rect">
            <a:avLst/>
          </a:prstGeom>
          <a:noFill/>
        </p:spPr>
        <p:txBody>
          <a:bodyPr wrap="none">
            <a:spAutoFit/>
          </a:bodyPr>
          <a:lstStyle/>
          <a:p>
            <a:r>
              <a:rPr sz="1300" b="1">
                <a:solidFill>
                  <a:srgbClr val="276E78"/>
                </a:solidFill>
              </a:rPr>
              <a:t>证明了什么</a:t>
            </a:r>
          </a:p>
        </p:txBody>
      </p:sp>
      <p:sp>
        <p:nvSpPr>
          <p:cNvPr id="19" name="TextBox 18"/>
          <p:cNvSpPr txBox="1"/>
          <p:nvPr/>
        </p:nvSpPr>
        <p:spPr>
          <a:xfrm>
            <a:off x="877824" y="4370831"/>
            <a:ext cx="5029200" cy="114300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agent-first 的关键是环境、约束和反馈回路，而不只是模型。</a:t>
            </a:r>
          </a:p>
          <a:p>
            <a:pPr>
              <a:lnSpc>
                <a:spcPct val="115000"/>
              </a:lnSpc>
              <a:spcAft>
                <a:spcPts val="1000"/>
              </a:spcAft>
              <a:defRPr sz="1000">
                <a:solidFill>
                  <a:srgbClr val="2D3436"/>
                </a:solidFill>
              </a:defRPr>
            </a:pPr>
            <a:r>
              <a:t>工程师角色从写代码转向定义目标与治理代理。</a:t>
            </a:r>
          </a:p>
        </p:txBody>
      </p:sp>
      <p:sp>
        <p:nvSpPr>
          <p:cNvPr id="20" name="Rounded Rectangle 19"/>
          <p:cNvSpPr/>
          <p:nvPr/>
        </p:nvSpPr>
        <p:spPr>
          <a:xfrm>
            <a:off x="6309360" y="3977639"/>
            <a:ext cx="5074920" cy="160020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5664" y="4087368"/>
            <a:ext cx="4800600" cy="256032"/>
          </a:xfrm>
          <a:prstGeom prst="rect">
            <a:avLst/>
          </a:prstGeom>
          <a:noFill/>
        </p:spPr>
        <p:txBody>
          <a:bodyPr wrap="none">
            <a:spAutoFit/>
          </a:bodyPr>
          <a:lstStyle/>
          <a:p>
            <a:r>
              <a:rPr sz="1300" b="1">
                <a:solidFill>
                  <a:srgbClr val="CA712C"/>
                </a:solidFill>
              </a:rPr>
              <a:t>怎么借鉴</a:t>
            </a:r>
          </a:p>
        </p:txBody>
      </p:sp>
      <p:sp>
        <p:nvSpPr>
          <p:cNvPr id="22" name="TextBox 21"/>
          <p:cNvSpPr txBox="1"/>
          <p:nvPr/>
        </p:nvSpPr>
        <p:spPr>
          <a:xfrm>
            <a:off x="6455664" y="4370831"/>
            <a:ext cx="4800600" cy="1143000"/>
          </a:xfrm>
          <a:prstGeom prst="rect">
            <a:avLst/>
          </a:prstGeom>
          <a:noFill/>
        </p:spPr>
        <p:txBody>
          <a:bodyPr wrap="square" lIns="0" rIns="0" tIns="0" bIns="0">
            <a:spAutoFit/>
          </a:bodyPr>
          <a:lstStyle/>
          <a:p>
            <a:pPr>
              <a:lnSpc>
                <a:spcPct val="115000"/>
              </a:lnSpc>
              <a:spcAft>
                <a:spcPts val="1000"/>
              </a:spcAft>
              <a:defRPr sz="1000">
                <a:solidFill>
                  <a:srgbClr val="2D3436"/>
                </a:solidFill>
              </a:defRPr>
            </a:pPr>
            <a:r>
              <a:t>大多数团队不应直接一步到位。</a:t>
            </a:r>
          </a:p>
          <a:p>
            <a:pPr>
              <a:lnSpc>
                <a:spcPct val="115000"/>
              </a:lnSpc>
              <a:spcAft>
                <a:spcPts val="1000"/>
              </a:spcAft>
              <a:defRPr sz="1000">
                <a:solidFill>
                  <a:srgbClr val="2D3436"/>
                </a:solidFill>
              </a:defRPr>
            </a:pPr>
            <a:r>
              <a:t>先补测试、CI、仓库文档，再尝试代理闭环。</a:t>
            </a:r>
          </a:p>
        </p:txBody>
      </p:sp>
      <p:sp>
        <p:nvSpPr>
          <p:cNvPr id="23" name="Rounded Rectangle 22"/>
          <p:cNvSpPr/>
          <p:nvPr/>
        </p:nvSpPr>
        <p:spPr>
          <a:xfrm>
            <a:off x="868680" y="5257800"/>
            <a:ext cx="10332720" cy="7772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440680"/>
            <a:ext cx="9875520" cy="411480"/>
          </a:xfrm>
          <a:prstGeom prst="rect">
            <a:avLst/>
          </a:prstGeom>
          <a:noFill/>
        </p:spPr>
        <p:txBody>
          <a:bodyPr wrap="square">
            <a:spAutoFit/>
          </a:bodyPr>
          <a:lstStyle/>
          <a:p>
            <a:pPr>
              <a:spcAft>
                <a:spcPts val="200"/>
              </a:spcAft>
              <a:defRPr sz="900">
                <a:solidFill>
                  <a:srgbClr val="606C76"/>
                </a:solidFill>
              </a:defRPr>
            </a:pPr>
            <a:r>
              <a:t>来源：OpenAI 官方工程文章（Harness engineering）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76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822960"/>
          </a:xfrm>
          <a:prstGeom prst="rect">
            <a:avLst/>
          </a:prstGeom>
          <a:noFill/>
        </p:spPr>
        <p:txBody>
          <a:bodyPr wrap="none">
            <a:spAutoFit/>
          </a:bodyPr>
          <a:lstStyle/>
          <a:p>
            <a:r>
              <a:rPr sz="2400" b="1">
                <a:solidFill>
                  <a:srgbClr val="152D4E"/>
                </a:solidFill>
              </a:rPr>
              <a:t>结论与证明</a:t>
            </a:r>
          </a:p>
        </p:txBody>
      </p:sp>
      <p:sp>
        <p:nvSpPr>
          <p:cNvPr id="4" name="TextBox 3"/>
          <p:cNvSpPr txBox="1"/>
          <p:nvPr/>
        </p:nvSpPr>
        <p:spPr>
          <a:xfrm>
            <a:off x="658368" y="1005840"/>
            <a:ext cx="10515600" cy="411480"/>
          </a:xfrm>
          <a:prstGeom prst="rect">
            <a:avLst/>
          </a:prstGeom>
          <a:noFill/>
        </p:spPr>
        <p:txBody>
          <a:bodyPr wrap="none">
            <a:spAutoFit/>
          </a:bodyPr>
          <a:lstStyle/>
          <a:p>
            <a:r>
              <a:rPr sz="1000">
                <a:solidFill>
                  <a:srgbClr val="606C76"/>
                </a:solidFill>
              </a:rPr>
              <a:t>把结论和案例证据放在一起，便于直接汇报</a:t>
            </a:r>
          </a:p>
        </p:txBody>
      </p:sp>
      <p:sp>
        <p:nvSpPr>
          <p:cNvPr id="5" name="TextBox 4"/>
          <p:cNvSpPr txBox="1"/>
          <p:nvPr/>
        </p:nvSpPr>
        <p:spPr>
          <a:xfrm>
            <a:off x="685800" y="6400800"/>
            <a:ext cx="10972800" cy="228600"/>
          </a:xfrm>
          <a:prstGeom prst="rect">
            <a:avLst/>
          </a:prstGeom>
          <a:noFill/>
        </p:spPr>
        <p:txBody>
          <a:bodyPr wrap="none">
            <a:spAutoFit/>
          </a:bodyPr>
          <a:lstStyle/>
          <a:p>
            <a:r>
              <a:rPr sz="800">
                <a:solidFill>
                  <a:srgbClr val="606C76"/>
                </a:solidFill>
              </a:rPr>
              <a:t>资料来源均来自公开官方报告、官方博客或官方客户案例</a:t>
            </a:r>
          </a:p>
        </p:txBody>
      </p:sp>
      <p:sp>
        <p:nvSpPr>
          <p:cNvPr id="6" name="Rounded Rectangle 5"/>
          <p:cNvSpPr/>
          <p:nvPr/>
        </p:nvSpPr>
        <p:spPr>
          <a:xfrm>
            <a:off x="731520" y="1508760"/>
            <a:ext cx="5074920" cy="44348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719072"/>
            <a:ext cx="4480560" cy="365760"/>
          </a:xfrm>
          <a:prstGeom prst="rect">
            <a:avLst/>
          </a:prstGeom>
          <a:noFill/>
        </p:spPr>
        <p:txBody>
          <a:bodyPr wrap="none">
            <a:spAutoFit/>
          </a:bodyPr>
          <a:lstStyle/>
          <a:p>
            <a:r>
              <a:rPr sz="1600" b="1">
                <a:solidFill>
                  <a:srgbClr val="276E78"/>
                </a:solidFill>
              </a:rPr>
              <a:t>关键结论</a:t>
            </a:r>
          </a:p>
        </p:txBody>
      </p:sp>
      <p:sp>
        <p:nvSpPr>
          <p:cNvPr id="8" name="TextBox 7"/>
          <p:cNvSpPr txBox="1"/>
          <p:nvPr/>
        </p:nvSpPr>
        <p:spPr>
          <a:xfrm>
            <a:off x="932688" y="2148840"/>
            <a:ext cx="4526280" cy="3566160"/>
          </a:xfrm>
          <a:prstGeom prst="rect">
            <a:avLst/>
          </a:prstGeom>
          <a:noFill/>
        </p:spPr>
        <p:txBody>
          <a:bodyPr wrap="square" lIns="0" rIns="0" tIns="0" bIns="0">
            <a:spAutoFit/>
          </a:bodyPr>
          <a:lstStyle/>
          <a:p>
            <a:pPr>
              <a:lnSpc>
                <a:spcPct val="115000"/>
              </a:lnSpc>
              <a:spcAft>
                <a:spcPts val="1000"/>
              </a:spcAft>
              <a:defRPr sz="1500">
                <a:solidFill>
                  <a:srgbClr val="2D3436"/>
                </a:solidFill>
              </a:defRPr>
            </a:pPr>
            <a:r>
              <a:t>高频、重复、可验证任务最先出 ROI。</a:t>
            </a:r>
          </a:p>
          <a:p>
            <a:pPr>
              <a:lnSpc>
                <a:spcPct val="115000"/>
              </a:lnSpc>
              <a:spcAft>
                <a:spcPts val="1000"/>
              </a:spcAft>
              <a:defRPr sz="1500">
                <a:solidFill>
                  <a:srgbClr val="2D3436"/>
                </a:solidFill>
              </a:defRPr>
            </a:pPr>
            <a:r>
              <a:t>上下文接入能力比模型本身更关键。</a:t>
            </a:r>
          </a:p>
          <a:p>
            <a:pPr>
              <a:lnSpc>
                <a:spcPct val="115000"/>
              </a:lnSpc>
              <a:spcAft>
                <a:spcPts val="1000"/>
              </a:spcAft>
              <a:defRPr sz="1500">
                <a:solidFill>
                  <a:srgbClr val="2D3436"/>
                </a:solidFill>
              </a:defRPr>
            </a:pPr>
            <a:r>
              <a:t>编码提速后，review 与验证会成为新瓶颈。</a:t>
            </a:r>
          </a:p>
          <a:p>
            <a:pPr>
              <a:lnSpc>
                <a:spcPct val="115000"/>
              </a:lnSpc>
              <a:spcAft>
                <a:spcPts val="1000"/>
              </a:spcAft>
              <a:defRPr sz="1500">
                <a:solidFill>
                  <a:srgbClr val="2D3436"/>
                </a:solidFill>
              </a:defRPr>
            </a:pPr>
            <a:r>
              <a:t>现代化改造最容易算清 ROI。</a:t>
            </a:r>
          </a:p>
        </p:txBody>
      </p:sp>
      <p:sp>
        <p:nvSpPr>
          <p:cNvPr id="9" name="Rounded Rectangle 8"/>
          <p:cNvSpPr/>
          <p:nvPr/>
        </p:nvSpPr>
        <p:spPr>
          <a:xfrm>
            <a:off x="6172200" y="1508760"/>
            <a:ext cx="5074920" cy="44348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3368" y="1719072"/>
            <a:ext cx="4480560" cy="365760"/>
          </a:xfrm>
          <a:prstGeom prst="rect">
            <a:avLst/>
          </a:prstGeom>
          <a:noFill/>
        </p:spPr>
        <p:txBody>
          <a:bodyPr wrap="none">
            <a:spAutoFit/>
          </a:bodyPr>
          <a:lstStyle/>
          <a:p>
            <a:r>
              <a:rPr sz="1600" b="1">
                <a:solidFill>
                  <a:srgbClr val="CA712C"/>
                </a:solidFill>
              </a:rPr>
              <a:t>对应案例</a:t>
            </a:r>
          </a:p>
        </p:txBody>
      </p:sp>
      <p:sp>
        <p:nvSpPr>
          <p:cNvPr id="11" name="TextBox 10"/>
          <p:cNvSpPr txBox="1"/>
          <p:nvPr/>
        </p:nvSpPr>
        <p:spPr>
          <a:xfrm>
            <a:off x="6373368" y="2148840"/>
            <a:ext cx="4526280" cy="3566160"/>
          </a:xfrm>
          <a:prstGeom prst="rect">
            <a:avLst/>
          </a:prstGeom>
          <a:noFill/>
        </p:spPr>
        <p:txBody>
          <a:bodyPr wrap="square" lIns="0" rIns="0" tIns="0" bIns="0">
            <a:spAutoFit/>
          </a:bodyPr>
          <a:lstStyle/>
          <a:p>
            <a:pPr>
              <a:lnSpc>
                <a:spcPct val="115000"/>
              </a:lnSpc>
              <a:spcAft>
                <a:spcPts val="1000"/>
              </a:spcAft>
              <a:defRPr sz="1500">
                <a:solidFill>
                  <a:srgbClr val="2D3436"/>
                </a:solidFill>
              </a:defRPr>
            </a:pPr>
            <a:r>
              <a:t>Accenture、D&amp;B、Amazon Q</a:t>
            </a:r>
          </a:p>
          <a:p>
            <a:pPr>
              <a:lnSpc>
                <a:spcPct val="115000"/>
              </a:lnSpc>
              <a:spcAft>
                <a:spcPts val="1000"/>
              </a:spcAft>
              <a:defRPr sz="1500">
                <a:solidFill>
                  <a:srgbClr val="2D3436"/>
                </a:solidFill>
              </a:defRPr>
            </a:pPr>
            <a:r>
              <a:t>NVIDIA、OpenAI、Carlsberg</a:t>
            </a:r>
          </a:p>
          <a:p>
            <a:pPr>
              <a:lnSpc>
                <a:spcPct val="115000"/>
              </a:lnSpc>
              <a:spcAft>
                <a:spcPts val="1000"/>
              </a:spcAft>
              <a:defRPr sz="1500">
                <a:solidFill>
                  <a:srgbClr val="2D3436"/>
                </a:solidFill>
              </a:defRPr>
            </a:pPr>
            <a:r>
              <a:t>PlanetScale、DORA 2025</a:t>
            </a:r>
          </a:p>
          <a:p>
            <a:pPr>
              <a:lnSpc>
                <a:spcPct val="115000"/>
              </a:lnSpc>
              <a:spcAft>
                <a:spcPts val="1000"/>
              </a:spcAft>
              <a:defRPr sz="1500">
                <a:solidFill>
                  <a:srgbClr val="2D3436"/>
                </a:solidFill>
              </a:defRPr>
            </a:pPr>
            <a:r>
              <a:t>Novacomp、Signaturit</a:t>
            </a:r>
          </a:p>
        </p:txBody>
      </p:sp>
      <p:sp>
        <p:nvSpPr>
          <p:cNvPr id="12" name="Rounded Rectangle 11"/>
          <p:cNvSpPr/>
          <p:nvPr/>
        </p:nvSpPr>
        <p:spPr>
          <a:xfrm>
            <a:off x="868680" y="5257800"/>
            <a:ext cx="10332720" cy="7772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5440680"/>
            <a:ext cx="9875520" cy="411480"/>
          </a:xfrm>
          <a:prstGeom prst="rect">
            <a:avLst/>
          </a:prstGeom>
          <a:noFill/>
        </p:spPr>
        <p:txBody>
          <a:bodyPr wrap="square">
            <a:spAutoFit/>
          </a:bodyPr>
          <a:lstStyle/>
          <a:p>
            <a:pPr>
              <a:spcAft>
                <a:spcPts val="200"/>
              </a:spcAft>
              <a:defRPr sz="900">
                <a:solidFill>
                  <a:srgbClr val="606C76"/>
                </a:solidFill>
              </a:defRPr>
            </a:pPr>
            <a:r>
              <a:t>可搭配文档第 5 节《结论与证据链》使用。</a:t>
            </a:r>
          </a:p>
          <a:p>
            <a:pPr>
              <a:spcAft>
                <a:spcPts val="200"/>
              </a:spcAft>
              <a:defRPr sz="900">
                <a:solidFill>
                  <a:srgbClr val="606C76"/>
                </a:solidFill>
              </a:defRPr>
            </a:pPr>
            <a:r>
              <a:t>文档路径：/Users/a747/codex/全球AI提升软件工程开发效率调研报告_2026-04-20.md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CA71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822960"/>
          </a:xfrm>
          <a:prstGeom prst="rect">
            <a:avLst/>
          </a:prstGeom>
          <a:noFill/>
        </p:spPr>
        <p:txBody>
          <a:bodyPr wrap="none">
            <a:spAutoFit/>
          </a:bodyPr>
          <a:lstStyle/>
          <a:p>
            <a:r>
              <a:rPr sz="2400" b="1">
                <a:solidFill>
                  <a:srgbClr val="152D4E"/>
                </a:solidFill>
              </a:rPr>
              <a:t>落地建议</a:t>
            </a:r>
          </a:p>
        </p:txBody>
      </p:sp>
      <p:sp>
        <p:nvSpPr>
          <p:cNvPr id="4" name="TextBox 3"/>
          <p:cNvSpPr txBox="1"/>
          <p:nvPr/>
        </p:nvSpPr>
        <p:spPr>
          <a:xfrm>
            <a:off x="658368" y="1005840"/>
            <a:ext cx="10515600" cy="411480"/>
          </a:xfrm>
          <a:prstGeom prst="rect">
            <a:avLst/>
          </a:prstGeom>
          <a:noFill/>
        </p:spPr>
        <p:txBody>
          <a:bodyPr wrap="none">
            <a:spAutoFit/>
          </a:bodyPr>
          <a:lstStyle/>
          <a:p>
            <a:r>
              <a:rPr sz="1000">
                <a:solidFill>
                  <a:srgbClr val="606C76"/>
                </a:solidFill>
              </a:rPr>
              <a:t>更适合大多数组织的 4 阶段导入路径</a:t>
            </a:r>
          </a:p>
        </p:txBody>
      </p:sp>
      <p:sp>
        <p:nvSpPr>
          <p:cNvPr id="5" name="TextBox 4"/>
          <p:cNvSpPr txBox="1"/>
          <p:nvPr/>
        </p:nvSpPr>
        <p:spPr>
          <a:xfrm>
            <a:off x="685800" y="6400800"/>
            <a:ext cx="10972800" cy="228600"/>
          </a:xfrm>
          <a:prstGeom prst="rect">
            <a:avLst/>
          </a:prstGeom>
          <a:noFill/>
        </p:spPr>
        <p:txBody>
          <a:bodyPr wrap="none">
            <a:spAutoFit/>
          </a:bodyPr>
          <a:lstStyle/>
          <a:p>
            <a:r>
              <a:rPr sz="800">
                <a:solidFill>
                  <a:srgbClr val="606C76"/>
                </a:solidFill>
              </a:rPr>
              <a:t>资料来源均来自公开官方报告、官方博客或官方客户案例</a:t>
            </a:r>
          </a:p>
        </p:txBody>
      </p:sp>
      <p:sp>
        <p:nvSpPr>
          <p:cNvPr id="6" name="TextBox 5"/>
          <p:cNvSpPr txBox="1"/>
          <p:nvPr/>
        </p:nvSpPr>
        <p:spPr>
          <a:xfrm>
            <a:off x="868680" y="1783080"/>
            <a:ext cx="10241280" cy="3840480"/>
          </a:xfrm>
          <a:prstGeom prst="rect">
            <a:avLst/>
          </a:prstGeom>
          <a:noFill/>
        </p:spPr>
        <p:txBody>
          <a:bodyPr wrap="square" lIns="0" rIns="0" tIns="0" bIns="0">
            <a:spAutoFit/>
          </a:bodyPr>
          <a:lstStyle/>
          <a:p>
            <a:pPr>
              <a:lnSpc>
                <a:spcPct val="115000"/>
              </a:lnSpc>
              <a:spcAft>
                <a:spcPts val="1000"/>
              </a:spcAft>
              <a:defRPr sz="1800">
                <a:solidFill>
                  <a:srgbClr val="2D3436"/>
                </a:solidFill>
              </a:defRPr>
            </a:pPr>
            <a:r>
              <a:t>第一阶段 Copilot 化：先做代码补全、单测、文档和代码解释。</a:t>
            </a:r>
          </a:p>
          <a:p>
            <a:pPr>
              <a:lnSpc>
                <a:spcPct val="115000"/>
              </a:lnSpc>
              <a:spcAft>
                <a:spcPts val="1000"/>
              </a:spcAft>
              <a:defRPr sz="1800">
                <a:solidFill>
                  <a:srgbClr val="2D3436"/>
                </a:solidFill>
              </a:defRPr>
            </a:pPr>
            <a:r>
              <a:t>第二阶段 上下文化：接入代码库、需求票据、文档、CI 和测试结果。</a:t>
            </a:r>
          </a:p>
          <a:p>
            <a:pPr>
              <a:lnSpc>
                <a:spcPct val="115000"/>
              </a:lnSpc>
              <a:spcAft>
                <a:spcPts val="1000"/>
              </a:spcAft>
              <a:defRPr sz="1800">
                <a:solidFill>
                  <a:srgbClr val="2D3436"/>
                </a:solidFill>
              </a:defRPr>
            </a:pPr>
            <a:r>
              <a:t>第三阶段 验证化：补 AI review、自动测试、安全扫描和 merge gate。</a:t>
            </a:r>
          </a:p>
          <a:p>
            <a:pPr>
              <a:lnSpc>
                <a:spcPct val="115000"/>
              </a:lnSpc>
              <a:spcAft>
                <a:spcPts val="1000"/>
              </a:spcAft>
              <a:defRPr sz="1800">
                <a:solidFill>
                  <a:srgbClr val="2D3436"/>
                </a:solidFill>
              </a:defRPr>
            </a:pPr>
            <a:r>
              <a:t>第四阶段 代理化：让 AI 处理更长链路任务，人工转向目标定义与验收。</a:t>
            </a:r>
          </a:p>
          <a:p>
            <a:pPr>
              <a:lnSpc>
                <a:spcPct val="115000"/>
              </a:lnSpc>
              <a:spcAft>
                <a:spcPts val="1000"/>
              </a:spcAft>
              <a:defRPr sz="1800">
                <a:solidFill>
                  <a:srgbClr val="2D3436"/>
                </a:solidFill>
              </a:defRPr>
            </a:pPr>
            <a:r>
              <a:t>如果要选首批试点，优先：代码解释、单测、版本升级、遗留系统现代化。</a:t>
            </a:r>
          </a:p>
        </p:txBody>
      </p:sp>
      <p:sp>
        <p:nvSpPr>
          <p:cNvPr id="7" name="Rounded Rectangle 6"/>
          <p:cNvSpPr/>
          <p:nvPr/>
        </p:nvSpPr>
        <p:spPr>
          <a:xfrm>
            <a:off x="868680" y="5257800"/>
            <a:ext cx="10332720" cy="777240"/>
          </a:xfrm>
          <a:prstGeom prst="roundRect">
            <a:avLst/>
          </a:prstGeom>
          <a:solidFill>
            <a:srgbClr val="FFFFFF"/>
          </a:solidFill>
          <a:ln>
            <a:solidFill>
              <a:srgbClr val="EB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440680"/>
            <a:ext cx="9875520" cy="411480"/>
          </a:xfrm>
          <a:prstGeom prst="rect">
            <a:avLst/>
          </a:prstGeom>
          <a:noFill/>
        </p:spPr>
        <p:txBody>
          <a:bodyPr wrap="square">
            <a:spAutoFit/>
          </a:bodyPr>
          <a:lstStyle/>
          <a:p>
            <a:pPr>
              <a:spcAft>
                <a:spcPts val="200"/>
              </a:spcAft>
              <a:defRPr sz="900">
                <a:solidFill>
                  <a:srgbClr val="606C76"/>
                </a:solidFill>
              </a:defRPr>
            </a:pPr>
            <a:r>
              <a:t>可搭配文档第 6 节《如何落地使用 AI 提升软件工程效率》使用。</a:t>
            </a:r>
          </a:p>
          <a:p>
            <a:pPr>
              <a:spcAft>
                <a:spcPts val="200"/>
              </a:spcAft>
              <a:defRPr sz="900">
                <a:solidFill>
                  <a:srgbClr val="606C76"/>
                </a:solidFill>
              </a:defRPr>
            </a:pPr>
            <a:r>
              <a:t>建议汇报时把案例、证据和实施路径一起呈现。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